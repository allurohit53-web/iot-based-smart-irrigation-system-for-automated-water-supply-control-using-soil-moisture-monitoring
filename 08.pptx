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Fraunces ExtraBold" panose="020B0604020202020204" charset="0"/>
      <p:regular r:id="rId13"/>
    </p:embeddedFont>
    <p:embeddedFont>
      <p:font typeface="Nobile" panose="020B0604020202020204" charset="0"/>
      <p:regular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5720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E1"/>
          </a:solidFill>
          <a:ln/>
        </p:spPr>
      </p:sp>
      <p:sp>
        <p:nvSpPr>
          <p:cNvPr id="3" name="Shape 1"/>
          <p:cNvSpPr/>
          <p:nvPr/>
        </p:nvSpPr>
        <p:spPr>
          <a:xfrm>
            <a:off x="0" y="0"/>
            <a:ext cx="12191695" cy="68580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1508224"/>
            <a:ext cx="6296860" cy="2953246"/>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3B4540"/>
                </a:solidFill>
                <a:latin typeface="Fraunces ExtraBold" pitchFamily="34" charset="0"/>
                <a:ea typeface="Fraunces ExtraBold" pitchFamily="34" charset="-122"/>
                <a:cs typeface="Fraunces ExtraBold" pitchFamily="34" charset="-120"/>
              </a:rPr>
              <a:t>IoT-Based Smart Irrigation System for Automated Water Supply Control Using Soil Moisture Monitoring</a:t>
            </a:r>
            <a:endParaRPr lang="en-US" sz="3700" dirty="0"/>
          </a:p>
        </p:txBody>
      </p:sp>
      <p:sp>
        <p:nvSpPr>
          <p:cNvPr id="4" name="Text 1"/>
          <p:cNvSpPr/>
          <p:nvPr/>
        </p:nvSpPr>
        <p:spPr>
          <a:xfrm>
            <a:off x="5233360" y="4744938"/>
            <a:ext cx="6296860"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05449"/>
                </a:solidFill>
                <a:latin typeface="Nobile" pitchFamily="34" charset="0"/>
                <a:ea typeface="Nobile" pitchFamily="34" charset="-122"/>
                <a:cs typeface="Nobile" pitchFamily="34" charset="-120"/>
              </a:rPr>
              <a:t>An IoT-enabled agricultural irrigation management system designed to automate water supply based on real-time soil conditions.</a:t>
            </a:r>
            <a:endParaRPr lang="en-US" sz="1450" dirty="0"/>
          </a:p>
        </p:txBody>
      </p:sp>
      <p:sp>
        <p:nvSpPr>
          <p:cNvPr id="5" name="TextBox 4">
            <a:extLst>
              <a:ext uri="{FF2B5EF4-FFF2-40B4-BE49-F238E27FC236}">
                <a16:creationId xmlns:a16="http://schemas.microsoft.com/office/drawing/2014/main" id="{2232243C-6A81-8EAB-0ABA-BBBC28C36089}"/>
              </a:ext>
            </a:extLst>
          </p:cNvPr>
          <p:cNvSpPr txBox="1"/>
          <p:nvPr/>
        </p:nvSpPr>
        <p:spPr>
          <a:xfrm>
            <a:off x="9573208" y="6193008"/>
            <a:ext cx="2176237" cy="646331"/>
          </a:xfrm>
          <a:prstGeom prst="rect">
            <a:avLst/>
          </a:prstGeom>
          <a:noFill/>
        </p:spPr>
        <p:txBody>
          <a:bodyPr wrap="square" rtlCol="0">
            <a:spAutoFit/>
          </a:bodyPr>
          <a:lstStyle/>
          <a:p>
            <a:r>
              <a:rPr lang="en-IN" dirty="0"/>
              <a:t>KOMMURU ROHIT</a:t>
            </a:r>
          </a:p>
          <a:p>
            <a:r>
              <a:rPr lang="en-IN"/>
              <a:t>323129520008</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566043"/>
            <a:ext cx="10868745" cy="581422"/>
          </a:xfrm>
          <a:prstGeom prst="rect">
            <a:avLst/>
          </a:prstGeom>
          <a:noFill/>
          <a:ln/>
        </p:spPr>
        <p:txBody>
          <a:bodyPr wrap="none" lIns="0" tIns="0" rIns="0" bIns="0" rtlCol="0" anchor="t"/>
          <a:lstStyle/>
          <a:p>
            <a:pPr marL="0" indent="0" algn="l">
              <a:lnSpc>
                <a:spcPct val="104000"/>
              </a:lnSpc>
              <a:buNone/>
            </a:pPr>
            <a:r>
              <a:rPr lang="en-US" sz="3650" dirty="0">
                <a:solidFill>
                  <a:srgbClr val="3B4540"/>
                </a:solidFill>
                <a:latin typeface="Fraunces ExtraBold" pitchFamily="34" charset="0"/>
                <a:ea typeface="Fraunces ExtraBold" pitchFamily="34" charset="-122"/>
                <a:cs typeface="Fraunces ExtraBold" pitchFamily="34" charset="-120"/>
              </a:rPr>
              <a:t>Problem Statement</a:t>
            </a:r>
            <a:endParaRPr lang="en-US" sz="36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513780"/>
            <a:ext cx="3500747" cy="2295227"/>
          </a:xfrm>
          <a:prstGeom prst="rect">
            <a:avLst/>
          </a:prstGeom>
        </p:spPr>
      </p:pic>
      <p:sp>
        <p:nvSpPr>
          <p:cNvPr id="4" name="Text 1"/>
          <p:cNvSpPr/>
          <p:nvPr/>
        </p:nvSpPr>
        <p:spPr>
          <a:xfrm>
            <a:off x="974502" y="1725216"/>
            <a:ext cx="2976290" cy="581422"/>
          </a:xfrm>
          <a:prstGeom prst="rect">
            <a:avLst/>
          </a:prstGeom>
          <a:noFill/>
          <a:ln/>
        </p:spPr>
        <p:txBody>
          <a:bodyPr wrap="square" lIns="0" tIns="0" rIns="0" bIns="0" rtlCol="0" anchor="t">
            <a:normAutofit/>
          </a:bodyPr>
          <a:lstStyle/>
          <a:p>
            <a:pPr marL="0" indent="0" algn="l">
              <a:lnSpc>
                <a:spcPct val="104000"/>
              </a:lnSpc>
              <a:buNone/>
            </a:pPr>
            <a:r>
              <a:rPr lang="en-US" sz="1800" dirty="0">
                <a:solidFill>
                  <a:srgbClr val="405449"/>
                </a:solidFill>
                <a:latin typeface="Fraunces ExtraBold" pitchFamily="34" charset="0"/>
                <a:ea typeface="Fraunces ExtraBold" pitchFamily="34" charset="-122"/>
                <a:cs typeface="Fraunces ExtraBold" pitchFamily="34" charset="-120"/>
              </a:rPr>
              <a:t>Water Management Challenge</a:t>
            </a:r>
            <a:endParaRPr lang="en-US" sz="1800" dirty="0"/>
          </a:p>
        </p:txBody>
      </p:sp>
      <p:sp>
        <p:nvSpPr>
          <p:cNvPr id="5" name="Text 2"/>
          <p:cNvSpPr/>
          <p:nvPr/>
        </p:nvSpPr>
        <p:spPr>
          <a:xfrm>
            <a:off x="974502" y="2416473"/>
            <a:ext cx="2976290" cy="1181100"/>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405449"/>
                </a:solidFill>
                <a:latin typeface="Nobile" pitchFamily="34" charset="0"/>
                <a:ea typeface="Nobile" pitchFamily="34" charset="-122"/>
                <a:cs typeface="Nobile" pitchFamily="34" charset="-120"/>
              </a:rPr>
              <a:t>Efficient water management is essential for agricultural productivity and water conservation.</a:t>
            </a:r>
            <a:endParaRPr lang="en-US" sz="14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45375" y="1513780"/>
            <a:ext cx="3500846" cy="2295227"/>
          </a:xfrm>
          <a:prstGeom prst="rect">
            <a:avLst/>
          </a:prstGeom>
        </p:spPr>
      </p:pic>
      <p:sp>
        <p:nvSpPr>
          <p:cNvPr id="7" name="Text 3"/>
          <p:cNvSpPr/>
          <p:nvPr/>
        </p:nvSpPr>
        <p:spPr>
          <a:xfrm>
            <a:off x="4658402" y="1725216"/>
            <a:ext cx="2976389" cy="581422"/>
          </a:xfrm>
          <a:prstGeom prst="rect">
            <a:avLst/>
          </a:prstGeom>
          <a:noFill/>
          <a:ln/>
        </p:spPr>
        <p:txBody>
          <a:bodyPr wrap="square" lIns="0" tIns="0" rIns="0" bIns="0" rtlCol="0" anchor="t">
            <a:normAutofit/>
          </a:bodyPr>
          <a:lstStyle/>
          <a:p>
            <a:pPr marL="0" indent="0" algn="l">
              <a:lnSpc>
                <a:spcPct val="104000"/>
              </a:lnSpc>
              <a:buNone/>
            </a:pPr>
            <a:r>
              <a:rPr lang="en-US" sz="1800" dirty="0">
                <a:solidFill>
                  <a:srgbClr val="405449"/>
                </a:solidFill>
                <a:latin typeface="Fraunces ExtraBold" pitchFamily="34" charset="0"/>
                <a:ea typeface="Fraunces ExtraBold" pitchFamily="34" charset="-122"/>
                <a:cs typeface="Fraunces ExtraBold" pitchFamily="34" charset="-120"/>
              </a:rPr>
              <a:t>Manual Monitoring Dependency</a:t>
            </a:r>
            <a:endParaRPr lang="en-US" sz="1800" dirty="0"/>
          </a:p>
        </p:txBody>
      </p:sp>
      <p:sp>
        <p:nvSpPr>
          <p:cNvPr id="8" name="Text 4"/>
          <p:cNvSpPr/>
          <p:nvPr/>
        </p:nvSpPr>
        <p:spPr>
          <a:xfrm>
            <a:off x="4658402" y="2416473"/>
            <a:ext cx="2976389" cy="1181100"/>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405449"/>
                </a:solidFill>
                <a:latin typeface="Nobile" pitchFamily="34" charset="0"/>
                <a:ea typeface="Nobile" pitchFamily="34" charset="-122"/>
                <a:cs typeface="Nobile" pitchFamily="34" charset="-120"/>
              </a:rPr>
              <a:t>Traditional irrigation often depends on manual monitoring, making it labor-intensive and error-prone.</a:t>
            </a:r>
            <a:endParaRPr lang="en-US" sz="14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29374" y="1513780"/>
            <a:ext cx="3500747" cy="2295227"/>
          </a:xfrm>
          <a:prstGeom prst="rect">
            <a:avLst/>
          </a:prstGeom>
        </p:spPr>
      </p:pic>
      <p:sp>
        <p:nvSpPr>
          <p:cNvPr id="10" name="Text 5"/>
          <p:cNvSpPr/>
          <p:nvPr/>
        </p:nvSpPr>
        <p:spPr>
          <a:xfrm>
            <a:off x="8342401" y="1725216"/>
            <a:ext cx="2976290" cy="290711"/>
          </a:xfrm>
          <a:prstGeom prst="rect">
            <a:avLst/>
          </a:prstGeom>
          <a:noFill/>
          <a:ln/>
        </p:spPr>
        <p:txBody>
          <a:bodyPr wrap="none" lIns="0" tIns="0" rIns="0" bIns="0" rtlCol="0" anchor="t"/>
          <a:lstStyle/>
          <a:p>
            <a:pPr marL="0" indent="0" algn="l">
              <a:lnSpc>
                <a:spcPct val="104000"/>
              </a:lnSpc>
              <a:buNone/>
            </a:pPr>
            <a:r>
              <a:rPr lang="en-US" sz="1800" dirty="0">
                <a:solidFill>
                  <a:srgbClr val="405449"/>
                </a:solidFill>
                <a:latin typeface="Fraunces ExtraBold" pitchFamily="34" charset="0"/>
                <a:ea typeface="Fraunces ExtraBold" pitchFamily="34" charset="-122"/>
                <a:cs typeface="Fraunces ExtraBold" pitchFamily="34" charset="-120"/>
              </a:rPr>
              <a:t>Over-Irrigation Risk</a:t>
            </a:r>
            <a:endParaRPr lang="en-US" sz="1800" dirty="0"/>
          </a:p>
        </p:txBody>
      </p:sp>
      <p:sp>
        <p:nvSpPr>
          <p:cNvPr id="11" name="Text 6"/>
          <p:cNvSpPr/>
          <p:nvPr/>
        </p:nvSpPr>
        <p:spPr>
          <a:xfrm>
            <a:off x="8342401" y="2125762"/>
            <a:ext cx="2976290" cy="1181100"/>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405449"/>
                </a:solidFill>
                <a:latin typeface="Nobile" pitchFamily="34" charset="0"/>
                <a:ea typeface="Nobile" pitchFamily="34" charset="-122"/>
                <a:cs typeface="Nobile" pitchFamily="34" charset="-120"/>
              </a:rPr>
              <a:t>Fixed watering schedules may result in over-irrigation, wasting water and potentially harming crops.</a:t>
            </a:r>
            <a:endParaRPr lang="en-US" sz="14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3992166"/>
            <a:ext cx="3500747" cy="2299791"/>
          </a:xfrm>
          <a:prstGeom prst="rect">
            <a:avLst/>
          </a:prstGeom>
        </p:spPr>
      </p:pic>
      <p:sp>
        <p:nvSpPr>
          <p:cNvPr id="13" name="Text 7"/>
          <p:cNvSpPr/>
          <p:nvPr/>
        </p:nvSpPr>
        <p:spPr>
          <a:xfrm>
            <a:off x="974502" y="4203601"/>
            <a:ext cx="2976290" cy="581422"/>
          </a:xfrm>
          <a:prstGeom prst="rect">
            <a:avLst/>
          </a:prstGeom>
          <a:noFill/>
          <a:ln/>
        </p:spPr>
        <p:txBody>
          <a:bodyPr wrap="square" lIns="0" tIns="0" rIns="0" bIns="0" rtlCol="0" anchor="t">
            <a:normAutofit/>
          </a:bodyPr>
          <a:lstStyle/>
          <a:p>
            <a:pPr marL="0" indent="0" algn="l">
              <a:lnSpc>
                <a:spcPct val="104000"/>
              </a:lnSpc>
              <a:buNone/>
            </a:pPr>
            <a:r>
              <a:rPr lang="en-US" sz="1800" dirty="0">
                <a:solidFill>
                  <a:srgbClr val="405449"/>
                </a:solidFill>
                <a:latin typeface="Fraunces ExtraBold" pitchFamily="34" charset="0"/>
                <a:ea typeface="Fraunces ExtraBold" pitchFamily="34" charset="-122"/>
                <a:cs typeface="Fraunces ExtraBold" pitchFamily="34" charset="-120"/>
              </a:rPr>
              <a:t>Insufficient Watering Risk</a:t>
            </a:r>
            <a:endParaRPr lang="en-US" sz="1800" dirty="0"/>
          </a:p>
        </p:txBody>
      </p:sp>
      <p:sp>
        <p:nvSpPr>
          <p:cNvPr id="14" name="Text 8"/>
          <p:cNvSpPr/>
          <p:nvPr/>
        </p:nvSpPr>
        <p:spPr>
          <a:xfrm>
            <a:off x="974502" y="4894858"/>
            <a:ext cx="2976290" cy="1181100"/>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405449"/>
                </a:solidFill>
                <a:latin typeface="Nobile" pitchFamily="34" charset="0"/>
                <a:ea typeface="Nobile" pitchFamily="34" charset="-122"/>
                <a:cs typeface="Nobile" pitchFamily="34" charset="-120"/>
              </a:rPr>
              <a:t>Insufficient watering can also occur when soil conditions change unexpectedly between scheduled cycles.</a:t>
            </a:r>
            <a:endParaRPr lang="en-US" sz="145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45375" y="3992166"/>
            <a:ext cx="3500846" cy="2299791"/>
          </a:xfrm>
          <a:prstGeom prst="rect">
            <a:avLst/>
          </a:prstGeom>
        </p:spPr>
      </p:pic>
      <p:sp>
        <p:nvSpPr>
          <p:cNvPr id="16" name="Text 9"/>
          <p:cNvSpPr/>
          <p:nvPr/>
        </p:nvSpPr>
        <p:spPr>
          <a:xfrm>
            <a:off x="4658402" y="4203601"/>
            <a:ext cx="2976389" cy="290711"/>
          </a:xfrm>
          <a:prstGeom prst="rect">
            <a:avLst/>
          </a:prstGeom>
          <a:noFill/>
          <a:ln/>
        </p:spPr>
        <p:txBody>
          <a:bodyPr wrap="none" lIns="0" tIns="0" rIns="0" bIns="0" rtlCol="0" anchor="t"/>
          <a:lstStyle/>
          <a:p>
            <a:pPr marL="0" indent="0" algn="l">
              <a:lnSpc>
                <a:spcPct val="104000"/>
              </a:lnSpc>
              <a:buNone/>
            </a:pPr>
            <a:r>
              <a:rPr lang="en-US" sz="1800" dirty="0">
                <a:solidFill>
                  <a:srgbClr val="405449"/>
                </a:solidFill>
                <a:latin typeface="Fraunces ExtraBold" pitchFamily="34" charset="0"/>
                <a:ea typeface="Fraunces ExtraBold" pitchFamily="34" charset="-122"/>
                <a:cs typeface="Fraunces ExtraBold" pitchFamily="34" charset="-120"/>
              </a:rPr>
              <a:t>Need for Intelligence</a:t>
            </a:r>
            <a:endParaRPr lang="en-US" sz="1800" dirty="0"/>
          </a:p>
        </p:txBody>
      </p:sp>
      <p:sp>
        <p:nvSpPr>
          <p:cNvPr id="17" name="Text 10"/>
          <p:cNvSpPr/>
          <p:nvPr/>
        </p:nvSpPr>
        <p:spPr>
          <a:xfrm>
            <a:off x="4658402" y="4604147"/>
            <a:ext cx="2976389" cy="1476375"/>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405449"/>
                </a:solidFill>
                <a:latin typeface="Nobile" pitchFamily="34" charset="0"/>
                <a:ea typeface="Nobile" pitchFamily="34" charset="-122"/>
                <a:cs typeface="Nobile" pitchFamily="34" charset="-120"/>
              </a:rPr>
              <a:t>Farmers need an intelligent system that monitors soil conditions in real time and automatically regulates irrigation according to crop requirements.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624979"/>
            <a:ext cx="10868745" cy="553740"/>
          </a:xfrm>
          <a:prstGeom prst="rect">
            <a:avLst/>
          </a:prstGeom>
          <a:noFill/>
          <a:ln/>
        </p:spPr>
        <p:txBody>
          <a:bodyPr wrap="none" lIns="0" tIns="0" rIns="0" bIns="0" rtlCol="0" anchor="t"/>
          <a:lstStyle/>
          <a:p>
            <a:pPr marL="0" indent="0" algn="l">
              <a:lnSpc>
                <a:spcPct val="104000"/>
              </a:lnSpc>
              <a:buNone/>
            </a:pPr>
            <a:r>
              <a:rPr lang="en-US" sz="3450" dirty="0">
                <a:solidFill>
                  <a:srgbClr val="3B4540"/>
                </a:solidFill>
                <a:latin typeface="Fraunces ExtraBold" pitchFamily="34" charset="0"/>
                <a:ea typeface="Fraunces ExtraBold" pitchFamily="34" charset="-122"/>
                <a:cs typeface="Fraunces ExtraBold" pitchFamily="34" charset="-120"/>
              </a:rPr>
              <a:t>Proposed Solution</a:t>
            </a:r>
            <a:endParaRPr lang="en-US" sz="3450" dirty="0"/>
          </a:p>
        </p:txBody>
      </p:sp>
      <p:pic>
        <p:nvPicPr>
          <p:cNvPr id="3" name="Image 0" descr="preencoded.png"/>
          <p:cNvPicPr>
            <a:picLocks noChangeAspect="1"/>
          </p:cNvPicPr>
          <p:nvPr/>
        </p:nvPicPr>
        <p:blipFill>
          <a:blip r:embed="rId3"/>
          <a:stretch>
            <a:fillRect/>
          </a:stretch>
        </p:blipFill>
        <p:spPr>
          <a:xfrm>
            <a:off x="661475" y="1871563"/>
            <a:ext cx="6913390" cy="3917652"/>
          </a:xfrm>
          <a:prstGeom prst="rect">
            <a:avLst/>
          </a:prstGeom>
        </p:spPr>
      </p:pic>
      <p:sp>
        <p:nvSpPr>
          <p:cNvPr id="4" name="Text 1"/>
          <p:cNvSpPr/>
          <p:nvPr/>
        </p:nvSpPr>
        <p:spPr>
          <a:xfrm>
            <a:off x="8013400" y="1593949"/>
            <a:ext cx="3523070" cy="553839"/>
          </a:xfrm>
          <a:prstGeom prst="rect">
            <a:avLst/>
          </a:prstGeom>
          <a:noFill/>
          <a:ln/>
        </p:spPr>
        <p:txBody>
          <a:bodyPr wrap="square" lIns="0" tIns="0" rIns="0" bIns="0" rtlCol="0" anchor="t">
            <a:normAutofit/>
          </a:bodyPr>
          <a:lstStyle/>
          <a:p>
            <a:pPr marL="0" indent="0" algn="l">
              <a:lnSpc>
                <a:spcPct val="104000"/>
              </a:lnSpc>
              <a:buNone/>
            </a:pPr>
            <a:r>
              <a:rPr lang="en-US" sz="1700" dirty="0">
                <a:solidFill>
                  <a:srgbClr val="3B4540"/>
                </a:solidFill>
                <a:latin typeface="Fraunces ExtraBold" pitchFamily="34" charset="0"/>
                <a:ea typeface="Fraunces ExtraBold" pitchFamily="34" charset="-122"/>
                <a:cs typeface="Fraunces ExtraBold" pitchFamily="34" charset="-120"/>
              </a:rPr>
              <a:t>An Intelligent, Automated Irrigation Platform</a:t>
            </a:r>
            <a:endParaRPr lang="en-US" sz="1700" dirty="0"/>
          </a:p>
        </p:txBody>
      </p:sp>
      <p:sp>
        <p:nvSpPr>
          <p:cNvPr id="5" name="Text 2"/>
          <p:cNvSpPr/>
          <p:nvPr/>
        </p:nvSpPr>
        <p:spPr>
          <a:xfrm>
            <a:off x="8013400" y="2313880"/>
            <a:ext cx="3523070" cy="3860998"/>
          </a:xfrm>
          <a:prstGeom prst="rect">
            <a:avLst/>
          </a:prstGeom>
          <a:noFill/>
          <a:ln/>
        </p:spPr>
        <p:txBody>
          <a:bodyPr wrap="square" lIns="0" tIns="70882" rIns="0" bIns="0" rtlCol="0" anchor="t">
            <a:normAutofit/>
          </a:bodyPr>
          <a:lstStyle/>
          <a:p>
            <a:pPr marL="274320" indent="-274320" algn="l">
              <a:lnSpc>
                <a:spcPct val="129000"/>
              </a:lnSpc>
              <a:buSzPct val="100000"/>
              <a:buChar char="•"/>
            </a:pPr>
            <a:r>
              <a:rPr lang="en-US" sz="1350" dirty="0">
                <a:solidFill>
                  <a:srgbClr val="405449"/>
                </a:solidFill>
                <a:latin typeface="Nobile" pitchFamily="34" charset="0"/>
                <a:ea typeface="Nobile" pitchFamily="34" charset="-122"/>
                <a:cs typeface="Nobile" pitchFamily="34" charset="-120"/>
              </a:rPr>
              <a:t>Automates water supply using soil moisture monitoring</a:t>
            </a:r>
            <a:endParaRPr lang="en-US" sz="1350" dirty="0"/>
          </a:p>
          <a:p>
            <a:pPr marL="274320" indent="-274320" algn="l">
              <a:lnSpc>
                <a:spcPct val="129000"/>
              </a:lnSpc>
              <a:buSzPct val="100000"/>
              <a:buChar char="•"/>
            </a:pPr>
            <a:r>
              <a:rPr lang="en-US" sz="1350" dirty="0">
                <a:solidFill>
                  <a:srgbClr val="405449"/>
                </a:solidFill>
                <a:latin typeface="Nobile" pitchFamily="34" charset="0"/>
                <a:ea typeface="Nobile" pitchFamily="34" charset="-122"/>
                <a:cs typeface="Nobile" pitchFamily="34" charset="-120"/>
              </a:rPr>
              <a:t>Uses IoT technologies to monitor field conditions continuously</a:t>
            </a:r>
            <a:endParaRPr lang="en-US" sz="1350" dirty="0"/>
          </a:p>
          <a:p>
            <a:pPr marL="274320" indent="-274320" algn="l">
              <a:lnSpc>
                <a:spcPct val="129000"/>
              </a:lnSpc>
              <a:buSzPct val="100000"/>
              <a:buChar char="•"/>
            </a:pPr>
            <a:r>
              <a:rPr lang="en-US" sz="1350" dirty="0">
                <a:solidFill>
                  <a:srgbClr val="405449"/>
                </a:solidFill>
                <a:latin typeface="Nobile" pitchFamily="34" charset="0"/>
                <a:ea typeface="Nobile" pitchFamily="34" charset="-122"/>
                <a:cs typeface="Nobile" pitchFamily="34" charset="-120"/>
              </a:rPr>
              <a:t>Continuously observes soil and environmental conditions</a:t>
            </a:r>
            <a:endParaRPr lang="en-US" sz="1350" dirty="0"/>
          </a:p>
          <a:p>
            <a:pPr marL="274320" indent="-274320" algn="l">
              <a:lnSpc>
                <a:spcPct val="129000"/>
              </a:lnSpc>
              <a:buSzPct val="100000"/>
              <a:buChar char="•"/>
            </a:pPr>
            <a:r>
              <a:rPr lang="en-US" sz="1350" dirty="0">
                <a:solidFill>
                  <a:srgbClr val="405449"/>
                </a:solidFill>
                <a:latin typeface="Nobile" pitchFamily="34" charset="0"/>
                <a:ea typeface="Nobile" pitchFamily="34" charset="-122"/>
                <a:cs typeface="Nobile" pitchFamily="34" charset="-120"/>
              </a:rPr>
              <a:t>Automatically regulates irrigation based on predefined soil moisture thresholds</a:t>
            </a:r>
            <a:endParaRPr lang="en-US" sz="1350" dirty="0"/>
          </a:p>
          <a:p>
            <a:pPr marL="274320" indent="-274320" algn="l">
              <a:lnSpc>
                <a:spcPct val="129000"/>
              </a:lnSpc>
              <a:buSzPct val="100000"/>
              <a:buChar char="•"/>
            </a:pPr>
            <a:r>
              <a:rPr lang="en-US" sz="1350" dirty="0">
                <a:solidFill>
                  <a:srgbClr val="405449"/>
                </a:solidFill>
                <a:latin typeface="Nobile" pitchFamily="34" charset="0"/>
                <a:ea typeface="Nobile" pitchFamily="34" charset="-122"/>
                <a:cs typeface="Nobile" pitchFamily="34" charset="-120"/>
              </a:rPr>
              <a:t>Provides a centralized and user-friendly monitoring platform</a:t>
            </a:r>
            <a:endParaRPr lang="en-US" sz="1350" dirty="0"/>
          </a:p>
          <a:p>
            <a:pPr marL="274320" indent="-274320" algn="l">
              <a:lnSpc>
                <a:spcPct val="129000"/>
              </a:lnSpc>
              <a:buSzPct val="100000"/>
              <a:buChar char="•"/>
            </a:pPr>
            <a:r>
              <a:rPr lang="en-US" sz="1350" dirty="0">
                <a:solidFill>
                  <a:srgbClr val="405449"/>
                </a:solidFill>
                <a:latin typeface="Nobile" pitchFamily="34" charset="0"/>
                <a:ea typeface="Nobile" pitchFamily="34" charset="-122"/>
                <a:cs typeface="Nobile" pitchFamily="34" charset="-120"/>
              </a:rPr>
              <a:t>Allows farmers to monitor and control irrigation operations remotely</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52748"/>
            <a:ext cx="10868745" cy="526058"/>
          </a:xfrm>
          <a:prstGeom prst="rect">
            <a:avLst/>
          </a:prstGeom>
          <a:noFill/>
          <a:ln/>
        </p:spPr>
        <p:txBody>
          <a:bodyPr wrap="none" lIns="0" tIns="0" rIns="0" bIns="0" rtlCol="0" anchor="t"/>
          <a:lstStyle/>
          <a:p>
            <a:pPr marL="0" indent="0" algn="l">
              <a:lnSpc>
                <a:spcPct val="104000"/>
              </a:lnSpc>
              <a:buNone/>
            </a:pPr>
            <a:r>
              <a:rPr lang="en-US" sz="3300" dirty="0">
                <a:solidFill>
                  <a:srgbClr val="3B4540"/>
                </a:solidFill>
                <a:latin typeface="Fraunces ExtraBold" pitchFamily="34" charset="0"/>
                <a:ea typeface="Fraunces ExtraBold" pitchFamily="34" charset="-122"/>
                <a:cs typeface="Fraunces ExtraBold" pitchFamily="34" charset="-120"/>
              </a:rPr>
              <a:t>System Components</a:t>
            </a:r>
            <a:endParaRPr lang="en-US" sz="33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378645"/>
            <a:ext cx="336641" cy="336649"/>
          </a:xfrm>
          <a:prstGeom prst="rect">
            <a:avLst/>
          </a:prstGeom>
        </p:spPr>
      </p:pic>
      <p:sp>
        <p:nvSpPr>
          <p:cNvPr id="4" name="Text 1"/>
          <p:cNvSpPr/>
          <p:nvPr/>
        </p:nvSpPr>
        <p:spPr>
          <a:xfrm>
            <a:off x="661475" y="1902619"/>
            <a:ext cx="5340712" cy="263029"/>
          </a:xfrm>
          <a:prstGeom prst="rect">
            <a:avLst/>
          </a:prstGeom>
          <a:noFill/>
          <a:ln/>
        </p:spPr>
        <p:txBody>
          <a:bodyPr wrap="none" lIns="0" tIns="0" rIns="0" bIns="0" rtlCol="0" anchor="t"/>
          <a:lstStyle/>
          <a:p>
            <a:pPr marL="0" indent="0" algn="l">
              <a:lnSpc>
                <a:spcPct val="104000"/>
              </a:lnSpc>
              <a:buNone/>
            </a:pPr>
            <a:r>
              <a:rPr lang="en-US" sz="1650" dirty="0">
                <a:solidFill>
                  <a:srgbClr val="405449"/>
                </a:solidFill>
                <a:latin typeface="Fraunces ExtraBold" pitchFamily="34" charset="0"/>
                <a:ea typeface="Fraunces ExtraBold" pitchFamily="34" charset="-122"/>
                <a:cs typeface="Fraunces ExtraBold" pitchFamily="34" charset="-120"/>
              </a:rPr>
              <a:t>Soil Moisture Sensors</a:t>
            </a:r>
            <a:endParaRPr lang="en-US" sz="1650" dirty="0"/>
          </a:p>
        </p:txBody>
      </p:sp>
      <p:sp>
        <p:nvSpPr>
          <p:cNvPr id="5" name="Text 2"/>
          <p:cNvSpPr/>
          <p:nvPr/>
        </p:nvSpPr>
        <p:spPr>
          <a:xfrm>
            <a:off x="661475" y="2255540"/>
            <a:ext cx="5340712" cy="254595"/>
          </a:xfrm>
          <a:prstGeom prst="rect">
            <a:avLst/>
          </a:prstGeom>
          <a:noFill/>
          <a:ln/>
        </p:spPr>
        <p:txBody>
          <a:bodyPr wrap="none" lIns="0" tIns="0" rIns="0" bIns="0" rtlCol="0" anchor="t"/>
          <a:lstStyle/>
          <a:p>
            <a:pPr marL="0" indent="0" algn="l">
              <a:lnSpc>
                <a:spcPct val="126000"/>
              </a:lnSpc>
              <a:buNone/>
            </a:pPr>
            <a:r>
              <a:rPr lang="en-US" sz="1300" dirty="0">
                <a:solidFill>
                  <a:srgbClr val="405449"/>
                </a:solidFill>
                <a:latin typeface="Nobile" pitchFamily="34" charset="0"/>
                <a:ea typeface="Nobile" pitchFamily="34" charset="-122"/>
                <a:cs typeface="Nobile" pitchFamily="34" charset="-120"/>
              </a:rPr>
              <a:t>Monitor soil water content in real time</a:t>
            </a:r>
            <a:endParaRPr lang="en-US" sz="13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89508" y="1378645"/>
            <a:ext cx="336641" cy="336649"/>
          </a:xfrm>
          <a:prstGeom prst="rect">
            <a:avLst/>
          </a:prstGeom>
        </p:spPr>
      </p:pic>
      <p:sp>
        <p:nvSpPr>
          <p:cNvPr id="7" name="Text 3"/>
          <p:cNvSpPr/>
          <p:nvPr/>
        </p:nvSpPr>
        <p:spPr>
          <a:xfrm>
            <a:off x="6189508" y="1902619"/>
            <a:ext cx="5340712" cy="263029"/>
          </a:xfrm>
          <a:prstGeom prst="rect">
            <a:avLst/>
          </a:prstGeom>
          <a:noFill/>
          <a:ln/>
        </p:spPr>
        <p:txBody>
          <a:bodyPr wrap="none" lIns="0" tIns="0" rIns="0" bIns="0" rtlCol="0" anchor="t"/>
          <a:lstStyle/>
          <a:p>
            <a:pPr marL="0" indent="0" algn="l">
              <a:lnSpc>
                <a:spcPct val="104000"/>
              </a:lnSpc>
              <a:buNone/>
            </a:pPr>
            <a:r>
              <a:rPr lang="en-US" sz="1650" dirty="0">
                <a:solidFill>
                  <a:srgbClr val="405449"/>
                </a:solidFill>
                <a:latin typeface="Fraunces ExtraBold" pitchFamily="34" charset="0"/>
                <a:ea typeface="Fraunces ExtraBold" pitchFamily="34" charset="-122"/>
                <a:cs typeface="Fraunces ExtraBold" pitchFamily="34" charset="-120"/>
              </a:rPr>
              <a:t>Temperature Sensors</a:t>
            </a:r>
            <a:endParaRPr lang="en-US" sz="1650" dirty="0"/>
          </a:p>
        </p:txBody>
      </p:sp>
      <p:sp>
        <p:nvSpPr>
          <p:cNvPr id="8" name="Text 4"/>
          <p:cNvSpPr/>
          <p:nvPr/>
        </p:nvSpPr>
        <p:spPr>
          <a:xfrm>
            <a:off x="6189508" y="2255540"/>
            <a:ext cx="5340712" cy="254595"/>
          </a:xfrm>
          <a:prstGeom prst="rect">
            <a:avLst/>
          </a:prstGeom>
          <a:noFill/>
          <a:ln/>
        </p:spPr>
        <p:txBody>
          <a:bodyPr wrap="none" lIns="0" tIns="0" rIns="0" bIns="0" rtlCol="0" anchor="t"/>
          <a:lstStyle/>
          <a:p>
            <a:pPr marL="0" indent="0" algn="l">
              <a:lnSpc>
                <a:spcPct val="126000"/>
              </a:lnSpc>
              <a:buNone/>
            </a:pPr>
            <a:r>
              <a:rPr lang="en-US" sz="1300" dirty="0">
                <a:solidFill>
                  <a:srgbClr val="405449"/>
                </a:solidFill>
                <a:latin typeface="Nobile" pitchFamily="34" charset="0"/>
                <a:ea typeface="Nobile" pitchFamily="34" charset="-122"/>
                <a:cs typeface="Nobile" pitchFamily="34" charset="-120"/>
              </a:rPr>
              <a:t>Collect environmental and atmospheric data</a:t>
            </a:r>
            <a:endParaRPr lang="en-US" sz="13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2809974"/>
            <a:ext cx="336641" cy="336649"/>
          </a:xfrm>
          <a:prstGeom prst="rect">
            <a:avLst/>
          </a:prstGeom>
        </p:spPr>
      </p:pic>
      <p:sp>
        <p:nvSpPr>
          <p:cNvPr id="10" name="Text 5"/>
          <p:cNvSpPr/>
          <p:nvPr/>
        </p:nvSpPr>
        <p:spPr>
          <a:xfrm>
            <a:off x="661475" y="3333948"/>
            <a:ext cx="5340712" cy="263029"/>
          </a:xfrm>
          <a:prstGeom prst="rect">
            <a:avLst/>
          </a:prstGeom>
          <a:noFill/>
          <a:ln/>
        </p:spPr>
        <p:txBody>
          <a:bodyPr wrap="none" lIns="0" tIns="0" rIns="0" bIns="0" rtlCol="0" anchor="t"/>
          <a:lstStyle/>
          <a:p>
            <a:pPr marL="0" indent="0" algn="l">
              <a:lnSpc>
                <a:spcPct val="104000"/>
              </a:lnSpc>
              <a:buNone/>
            </a:pPr>
            <a:r>
              <a:rPr lang="en-US" sz="1650" dirty="0">
                <a:solidFill>
                  <a:srgbClr val="405449"/>
                </a:solidFill>
                <a:latin typeface="Fraunces ExtraBold" pitchFamily="34" charset="0"/>
                <a:ea typeface="Fraunces ExtraBold" pitchFamily="34" charset="-122"/>
                <a:cs typeface="Fraunces ExtraBold" pitchFamily="34" charset="-120"/>
              </a:rPr>
              <a:t>IoT Communication Modules</a:t>
            </a:r>
            <a:endParaRPr lang="en-US" sz="1650" dirty="0"/>
          </a:p>
        </p:txBody>
      </p:sp>
      <p:sp>
        <p:nvSpPr>
          <p:cNvPr id="11" name="Text 6"/>
          <p:cNvSpPr/>
          <p:nvPr/>
        </p:nvSpPr>
        <p:spPr>
          <a:xfrm>
            <a:off x="661475" y="3686870"/>
            <a:ext cx="5340712" cy="254595"/>
          </a:xfrm>
          <a:prstGeom prst="rect">
            <a:avLst/>
          </a:prstGeom>
          <a:noFill/>
          <a:ln/>
        </p:spPr>
        <p:txBody>
          <a:bodyPr wrap="none" lIns="0" tIns="0" rIns="0" bIns="0" rtlCol="0" anchor="t"/>
          <a:lstStyle/>
          <a:p>
            <a:pPr marL="0" indent="0" algn="l">
              <a:lnSpc>
                <a:spcPct val="126000"/>
              </a:lnSpc>
              <a:buNone/>
            </a:pPr>
            <a:r>
              <a:rPr lang="en-US" sz="1300" dirty="0">
                <a:solidFill>
                  <a:srgbClr val="405449"/>
                </a:solidFill>
                <a:latin typeface="Nobile" pitchFamily="34" charset="0"/>
                <a:ea typeface="Nobile" pitchFamily="34" charset="-122"/>
                <a:cs typeface="Nobile" pitchFamily="34" charset="-120"/>
              </a:rPr>
              <a:t>Transmit sensor data to the central system</a:t>
            </a:r>
            <a:endParaRPr lang="en-US" sz="13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89508" y="2809974"/>
            <a:ext cx="336641" cy="336649"/>
          </a:xfrm>
          <a:prstGeom prst="rect">
            <a:avLst/>
          </a:prstGeom>
        </p:spPr>
      </p:pic>
      <p:sp>
        <p:nvSpPr>
          <p:cNvPr id="13" name="Text 7"/>
          <p:cNvSpPr/>
          <p:nvPr/>
        </p:nvSpPr>
        <p:spPr>
          <a:xfrm>
            <a:off x="6189508" y="3333948"/>
            <a:ext cx="5340712" cy="263029"/>
          </a:xfrm>
          <a:prstGeom prst="rect">
            <a:avLst/>
          </a:prstGeom>
          <a:noFill/>
          <a:ln/>
        </p:spPr>
        <p:txBody>
          <a:bodyPr wrap="none" lIns="0" tIns="0" rIns="0" bIns="0" rtlCol="0" anchor="t"/>
          <a:lstStyle/>
          <a:p>
            <a:pPr marL="0" indent="0" algn="l">
              <a:lnSpc>
                <a:spcPct val="104000"/>
              </a:lnSpc>
              <a:buNone/>
            </a:pPr>
            <a:r>
              <a:rPr lang="en-US" sz="1650" dirty="0">
                <a:solidFill>
                  <a:srgbClr val="405449"/>
                </a:solidFill>
                <a:latin typeface="Fraunces ExtraBold" pitchFamily="34" charset="0"/>
                <a:ea typeface="Fraunces ExtraBold" pitchFamily="34" charset="-122"/>
                <a:cs typeface="Fraunces ExtraBold" pitchFamily="34" charset="-120"/>
              </a:rPr>
              <a:t>Automated Water Pumps</a:t>
            </a:r>
            <a:endParaRPr lang="en-US" sz="1650" dirty="0"/>
          </a:p>
        </p:txBody>
      </p:sp>
      <p:sp>
        <p:nvSpPr>
          <p:cNvPr id="14" name="Text 8"/>
          <p:cNvSpPr/>
          <p:nvPr/>
        </p:nvSpPr>
        <p:spPr>
          <a:xfrm>
            <a:off x="6189508" y="3686870"/>
            <a:ext cx="5340712" cy="254595"/>
          </a:xfrm>
          <a:prstGeom prst="rect">
            <a:avLst/>
          </a:prstGeom>
          <a:noFill/>
          <a:ln/>
        </p:spPr>
        <p:txBody>
          <a:bodyPr wrap="none" lIns="0" tIns="0" rIns="0" bIns="0" rtlCol="0" anchor="t"/>
          <a:lstStyle/>
          <a:p>
            <a:pPr marL="0" indent="0" algn="l">
              <a:lnSpc>
                <a:spcPct val="126000"/>
              </a:lnSpc>
              <a:buNone/>
            </a:pPr>
            <a:r>
              <a:rPr lang="en-US" sz="1300" dirty="0">
                <a:solidFill>
                  <a:srgbClr val="405449"/>
                </a:solidFill>
                <a:latin typeface="Nobile" pitchFamily="34" charset="0"/>
                <a:ea typeface="Nobile" pitchFamily="34" charset="-122"/>
                <a:cs typeface="Nobile" pitchFamily="34" charset="-120"/>
              </a:rPr>
              <a:t>Control water supply based on system commands</a:t>
            </a:r>
            <a:endParaRPr lang="en-US" sz="130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1475" y="4241304"/>
            <a:ext cx="336641" cy="336649"/>
          </a:xfrm>
          <a:prstGeom prst="rect">
            <a:avLst/>
          </a:prstGeom>
        </p:spPr>
      </p:pic>
      <p:sp>
        <p:nvSpPr>
          <p:cNvPr id="16" name="Text 9"/>
          <p:cNvSpPr/>
          <p:nvPr/>
        </p:nvSpPr>
        <p:spPr>
          <a:xfrm>
            <a:off x="661475" y="4765278"/>
            <a:ext cx="5340712" cy="263029"/>
          </a:xfrm>
          <a:prstGeom prst="rect">
            <a:avLst/>
          </a:prstGeom>
          <a:noFill/>
          <a:ln/>
        </p:spPr>
        <p:txBody>
          <a:bodyPr wrap="none" lIns="0" tIns="0" rIns="0" bIns="0" rtlCol="0" anchor="t"/>
          <a:lstStyle/>
          <a:p>
            <a:pPr marL="0" indent="0" algn="l">
              <a:lnSpc>
                <a:spcPct val="104000"/>
              </a:lnSpc>
              <a:buNone/>
            </a:pPr>
            <a:r>
              <a:rPr lang="en-US" sz="1650" dirty="0">
                <a:solidFill>
                  <a:srgbClr val="405449"/>
                </a:solidFill>
                <a:latin typeface="Fraunces ExtraBold" pitchFamily="34" charset="0"/>
                <a:ea typeface="Fraunces ExtraBold" pitchFamily="34" charset="-122"/>
                <a:cs typeface="Fraunces ExtraBold" pitchFamily="34" charset="-120"/>
              </a:rPr>
              <a:t>Monitoring Platform</a:t>
            </a:r>
            <a:endParaRPr lang="en-US" sz="1650" dirty="0"/>
          </a:p>
        </p:txBody>
      </p:sp>
      <p:sp>
        <p:nvSpPr>
          <p:cNvPr id="17" name="Text 10"/>
          <p:cNvSpPr/>
          <p:nvPr/>
        </p:nvSpPr>
        <p:spPr>
          <a:xfrm>
            <a:off x="661475" y="5118199"/>
            <a:ext cx="5340712" cy="509191"/>
          </a:xfrm>
          <a:prstGeom prst="rect">
            <a:avLst/>
          </a:prstGeom>
          <a:noFill/>
          <a:ln/>
        </p:spPr>
        <p:txBody>
          <a:bodyPr wrap="square" lIns="0" tIns="0" rIns="0" bIns="0" rtlCol="0" anchor="t">
            <a:normAutofit/>
          </a:bodyPr>
          <a:lstStyle/>
          <a:p>
            <a:pPr marL="0" indent="0" algn="l">
              <a:lnSpc>
                <a:spcPct val="126000"/>
              </a:lnSpc>
              <a:buNone/>
            </a:pPr>
            <a:r>
              <a:rPr lang="en-US" sz="1300" dirty="0">
                <a:solidFill>
                  <a:srgbClr val="405449"/>
                </a:solidFill>
                <a:latin typeface="Nobile" pitchFamily="34" charset="0"/>
                <a:ea typeface="Nobile" pitchFamily="34" charset="-122"/>
                <a:cs typeface="Nobile" pitchFamily="34" charset="-120"/>
              </a:rPr>
              <a:t>Process, analyze, and display real-time sensor data and system metrics</a:t>
            </a:r>
            <a:endParaRPr lang="en-US" sz="1300" dirty="0"/>
          </a:p>
        </p:txBody>
      </p:sp>
      <p:pic>
        <p:nvPicPr>
          <p:cNvPr id="1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89508" y="4241304"/>
            <a:ext cx="336641" cy="336649"/>
          </a:xfrm>
          <a:prstGeom prst="rect">
            <a:avLst/>
          </a:prstGeom>
        </p:spPr>
      </p:pic>
      <p:sp>
        <p:nvSpPr>
          <p:cNvPr id="19" name="Text 11"/>
          <p:cNvSpPr/>
          <p:nvPr/>
        </p:nvSpPr>
        <p:spPr>
          <a:xfrm>
            <a:off x="6189508" y="4765278"/>
            <a:ext cx="5340712" cy="263029"/>
          </a:xfrm>
          <a:prstGeom prst="rect">
            <a:avLst/>
          </a:prstGeom>
          <a:noFill/>
          <a:ln/>
        </p:spPr>
        <p:txBody>
          <a:bodyPr wrap="none" lIns="0" tIns="0" rIns="0" bIns="0" rtlCol="0" anchor="t"/>
          <a:lstStyle/>
          <a:p>
            <a:pPr marL="0" indent="0" algn="l">
              <a:lnSpc>
                <a:spcPct val="104000"/>
              </a:lnSpc>
              <a:buNone/>
            </a:pPr>
            <a:r>
              <a:rPr lang="en-US" sz="1650" dirty="0">
                <a:solidFill>
                  <a:srgbClr val="405449"/>
                </a:solidFill>
                <a:latin typeface="Fraunces ExtraBold" pitchFamily="34" charset="0"/>
                <a:ea typeface="Fraunces ExtraBold" pitchFamily="34" charset="-122"/>
                <a:cs typeface="Fraunces ExtraBold" pitchFamily="34" charset="-120"/>
              </a:rPr>
              <a:t>Connected Devices</a:t>
            </a:r>
            <a:endParaRPr lang="en-US" sz="1650" dirty="0"/>
          </a:p>
        </p:txBody>
      </p:sp>
      <p:sp>
        <p:nvSpPr>
          <p:cNvPr id="20" name="Text 12"/>
          <p:cNvSpPr/>
          <p:nvPr/>
        </p:nvSpPr>
        <p:spPr>
          <a:xfrm>
            <a:off x="6189508" y="5118199"/>
            <a:ext cx="5340712" cy="254595"/>
          </a:xfrm>
          <a:prstGeom prst="rect">
            <a:avLst/>
          </a:prstGeom>
          <a:noFill/>
          <a:ln/>
        </p:spPr>
        <p:txBody>
          <a:bodyPr wrap="none" lIns="0" tIns="0" rIns="0" bIns="0" rtlCol="0" anchor="t"/>
          <a:lstStyle/>
          <a:p>
            <a:pPr marL="0" indent="0" algn="l">
              <a:lnSpc>
                <a:spcPct val="126000"/>
              </a:lnSpc>
              <a:buNone/>
            </a:pPr>
            <a:r>
              <a:rPr lang="en-US" sz="1300" dirty="0">
                <a:solidFill>
                  <a:srgbClr val="405449"/>
                </a:solidFill>
                <a:latin typeface="Nobile" pitchFamily="34" charset="0"/>
                <a:ea typeface="Nobile" pitchFamily="34" charset="-122"/>
                <a:cs typeface="Nobile" pitchFamily="34" charset="-120"/>
              </a:rPr>
              <a:t>Enable remote monitoring and control from anywhere</a:t>
            </a:r>
            <a:endParaRPr lang="en-US" sz="1300" dirty="0"/>
          </a:p>
        </p:txBody>
      </p:sp>
      <p:sp>
        <p:nvSpPr>
          <p:cNvPr id="21" name="Text 13"/>
          <p:cNvSpPr/>
          <p:nvPr/>
        </p:nvSpPr>
        <p:spPr>
          <a:xfrm>
            <a:off x="661475" y="5796062"/>
            <a:ext cx="10868745" cy="509191"/>
          </a:xfrm>
          <a:prstGeom prst="rect">
            <a:avLst/>
          </a:prstGeom>
          <a:noFill/>
          <a:ln/>
        </p:spPr>
        <p:txBody>
          <a:bodyPr wrap="square" lIns="0" tIns="0" rIns="0" bIns="0" rtlCol="0" anchor="t">
            <a:normAutofit/>
          </a:bodyPr>
          <a:lstStyle/>
          <a:p>
            <a:pPr marL="0" indent="0" algn="l">
              <a:lnSpc>
                <a:spcPct val="126000"/>
              </a:lnSpc>
              <a:buNone/>
            </a:pPr>
            <a:r>
              <a:rPr lang="en-US" sz="1300" dirty="0">
                <a:solidFill>
                  <a:srgbClr val="405449"/>
                </a:solidFill>
                <a:latin typeface="Nobile" pitchFamily="34" charset="0"/>
                <a:ea typeface="Nobile" pitchFamily="34" charset="-122"/>
                <a:cs typeface="Nobile" pitchFamily="34" charset="-120"/>
              </a:rPr>
              <a:t>These components work together to create an integrated system where sensors collect field data, IoT modules transmit information, the platform processes it, and automated controls respond to field conditions.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19807"/>
            <a:ext cx="10868745" cy="396875"/>
          </a:xfrm>
          <a:prstGeom prst="rect">
            <a:avLst/>
          </a:prstGeom>
          <a:noFill/>
          <a:ln/>
        </p:spPr>
        <p:txBody>
          <a:bodyPr wrap="none" lIns="0" tIns="0" rIns="0" bIns="0" rtlCol="0" anchor="t"/>
          <a:lstStyle/>
          <a:p>
            <a:pPr marL="0" indent="0" algn="l">
              <a:lnSpc>
                <a:spcPct val="104000"/>
              </a:lnSpc>
              <a:buNone/>
            </a:pPr>
            <a:r>
              <a:rPr lang="en-US" sz="2450" dirty="0">
                <a:solidFill>
                  <a:srgbClr val="3B4540"/>
                </a:solidFill>
                <a:latin typeface="Fraunces ExtraBold" pitchFamily="34" charset="0"/>
                <a:ea typeface="Fraunces ExtraBold" pitchFamily="34" charset="-122"/>
                <a:cs typeface="Fraunces ExtraBold" pitchFamily="34" charset="-120"/>
              </a:rPr>
              <a:t>System Architecture and Working</a:t>
            </a:r>
            <a:endParaRPr lang="en-US" sz="2450" dirty="0"/>
          </a:p>
        </p:txBody>
      </p:sp>
      <p:pic>
        <p:nvPicPr>
          <p:cNvPr id="3" name="Image 0" descr="preencoded.png"/>
          <p:cNvPicPr>
            <a:picLocks noChangeAspect="1"/>
          </p:cNvPicPr>
          <p:nvPr/>
        </p:nvPicPr>
        <p:blipFill>
          <a:blip r:embed="rId3"/>
          <a:stretch>
            <a:fillRect/>
          </a:stretch>
        </p:blipFill>
        <p:spPr>
          <a:xfrm>
            <a:off x="706221" y="1087338"/>
            <a:ext cx="10779153" cy="4648299"/>
          </a:xfrm>
          <a:prstGeom prst="rect">
            <a:avLst/>
          </a:prstGeom>
        </p:spPr>
      </p:pic>
      <p:sp>
        <p:nvSpPr>
          <p:cNvPr id="4" name="Text 1"/>
          <p:cNvSpPr/>
          <p:nvPr/>
        </p:nvSpPr>
        <p:spPr>
          <a:xfrm>
            <a:off x="1431583" y="4854146"/>
            <a:ext cx="2546790" cy="305684"/>
          </a:xfrm>
          <a:prstGeom prst="rect">
            <a:avLst/>
          </a:prstGeom>
          <a:noFill/>
          <a:ln/>
        </p:spPr>
        <p:txBody>
          <a:bodyPr wrap="none" lIns="0" tIns="0" rIns="0" bIns="0" rtlCol="0" anchor="t"/>
          <a:lstStyle/>
          <a:p>
            <a:pPr marL="0" indent="0" algn="l">
              <a:lnSpc>
                <a:spcPct val="104000"/>
              </a:lnSpc>
              <a:buNone/>
            </a:pPr>
            <a:r>
              <a:rPr lang="en-US" sz="1900" dirty="0">
                <a:solidFill>
                  <a:srgbClr val="FFFFFF"/>
                </a:solidFill>
                <a:latin typeface="Fraunces ExtraBold" pitchFamily="34" charset="0"/>
                <a:ea typeface="Fraunces ExtraBold" pitchFamily="34" charset="-122"/>
                <a:cs typeface="Fraunces ExtraBold" pitchFamily="34" charset="-120"/>
              </a:rPr>
              <a:t>Evaluate Thresholds</a:t>
            </a:r>
            <a:endParaRPr lang="en-US" sz="1900" dirty="0"/>
          </a:p>
        </p:txBody>
      </p:sp>
      <p:sp>
        <p:nvSpPr>
          <p:cNvPr id="5" name="Text 2"/>
          <p:cNvSpPr/>
          <p:nvPr/>
        </p:nvSpPr>
        <p:spPr>
          <a:xfrm>
            <a:off x="1431583" y="3778140"/>
            <a:ext cx="2445408" cy="305684"/>
          </a:xfrm>
          <a:prstGeom prst="rect">
            <a:avLst/>
          </a:prstGeom>
          <a:noFill/>
          <a:ln/>
        </p:spPr>
        <p:txBody>
          <a:bodyPr wrap="none" lIns="0" tIns="0" rIns="0" bIns="0" rtlCol="0" anchor="t"/>
          <a:lstStyle/>
          <a:p>
            <a:pPr marL="0" indent="0" algn="l">
              <a:lnSpc>
                <a:spcPct val="104000"/>
              </a:lnSpc>
              <a:buNone/>
            </a:pPr>
            <a:r>
              <a:rPr lang="en-US" sz="1900" dirty="0">
                <a:solidFill>
                  <a:srgbClr val="FFFFFF"/>
                </a:solidFill>
                <a:latin typeface="Fraunces ExtraBold" pitchFamily="34" charset="0"/>
                <a:ea typeface="Fraunces ExtraBold" pitchFamily="34" charset="-122"/>
                <a:cs typeface="Fraunces ExtraBold" pitchFamily="34" charset="-120"/>
              </a:rPr>
              <a:t>Transmit IoT</a:t>
            </a:r>
            <a:endParaRPr lang="en-US" sz="1900" dirty="0"/>
          </a:p>
        </p:txBody>
      </p:sp>
      <p:sp>
        <p:nvSpPr>
          <p:cNvPr id="6" name="Text 3"/>
          <p:cNvSpPr/>
          <p:nvPr/>
        </p:nvSpPr>
        <p:spPr>
          <a:xfrm>
            <a:off x="1431583" y="2713002"/>
            <a:ext cx="2445408" cy="305683"/>
          </a:xfrm>
          <a:prstGeom prst="rect">
            <a:avLst/>
          </a:prstGeom>
          <a:noFill/>
          <a:ln/>
        </p:spPr>
        <p:txBody>
          <a:bodyPr wrap="none" lIns="0" tIns="0" rIns="0" bIns="0" rtlCol="0" anchor="t"/>
          <a:lstStyle/>
          <a:p>
            <a:pPr marL="0" indent="0" algn="l">
              <a:lnSpc>
                <a:spcPct val="104000"/>
              </a:lnSpc>
              <a:buNone/>
            </a:pPr>
            <a:r>
              <a:rPr lang="en-US" sz="1900" dirty="0">
                <a:solidFill>
                  <a:srgbClr val="FFFFFF"/>
                </a:solidFill>
                <a:latin typeface="Fraunces ExtraBold" pitchFamily="34" charset="0"/>
                <a:ea typeface="Fraunces ExtraBold" pitchFamily="34" charset="-122"/>
                <a:cs typeface="Fraunces ExtraBold" pitchFamily="34" charset="-120"/>
              </a:rPr>
              <a:t>Collect Data</a:t>
            </a:r>
            <a:endParaRPr lang="en-US" sz="1900" dirty="0"/>
          </a:p>
        </p:txBody>
      </p:sp>
      <p:sp>
        <p:nvSpPr>
          <p:cNvPr id="7" name="Text 4"/>
          <p:cNvSpPr/>
          <p:nvPr/>
        </p:nvSpPr>
        <p:spPr>
          <a:xfrm>
            <a:off x="1431583" y="1636996"/>
            <a:ext cx="2445408" cy="305683"/>
          </a:xfrm>
          <a:prstGeom prst="rect">
            <a:avLst/>
          </a:prstGeom>
          <a:noFill/>
          <a:ln/>
        </p:spPr>
        <p:txBody>
          <a:bodyPr wrap="none" lIns="0" tIns="0" rIns="0" bIns="0" rtlCol="0" anchor="t"/>
          <a:lstStyle/>
          <a:p>
            <a:pPr marL="0" indent="0" algn="l">
              <a:lnSpc>
                <a:spcPct val="104000"/>
              </a:lnSpc>
              <a:buNone/>
            </a:pPr>
            <a:r>
              <a:rPr lang="en-US" sz="1900" dirty="0">
                <a:solidFill>
                  <a:srgbClr val="FFFFFF"/>
                </a:solidFill>
                <a:latin typeface="Fraunces ExtraBold" pitchFamily="34" charset="0"/>
                <a:ea typeface="Fraunces ExtraBold" pitchFamily="34" charset="-122"/>
                <a:cs typeface="Fraunces ExtraBold" pitchFamily="34" charset="-120"/>
              </a:rPr>
              <a:t>Monitor Moisture</a:t>
            </a:r>
            <a:endParaRPr lang="en-US" sz="1900" dirty="0"/>
          </a:p>
        </p:txBody>
      </p:sp>
      <p:sp>
        <p:nvSpPr>
          <p:cNvPr id="8" name="Text 5"/>
          <p:cNvSpPr/>
          <p:nvPr/>
        </p:nvSpPr>
        <p:spPr>
          <a:xfrm>
            <a:off x="661475" y="5831582"/>
            <a:ext cx="10868745" cy="509588"/>
          </a:xfrm>
          <a:prstGeom prst="rect">
            <a:avLst/>
          </a:prstGeom>
          <a:noFill/>
          <a:ln/>
        </p:spPr>
        <p:txBody>
          <a:bodyPr wrap="square" lIns="0" tIns="0" rIns="0" bIns="0" rtlCol="0" anchor="t">
            <a:normAutofit/>
          </a:bodyPr>
          <a:lstStyle/>
          <a:p>
            <a:pPr marL="0" indent="0" algn="l">
              <a:lnSpc>
                <a:spcPct val="111000"/>
              </a:lnSpc>
              <a:buNone/>
            </a:pPr>
            <a:r>
              <a:rPr lang="en-US" sz="950" dirty="0">
                <a:solidFill>
                  <a:srgbClr val="405449"/>
                </a:solidFill>
                <a:latin typeface="Nobile" pitchFamily="34" charset="0"/>
                <a:ea typeface="Nobile" pitchFamily="34" charset="-122"/>
                <a:cs typeface="Nobile" pitchFamily="34" charset="-120"/>
              </a:rPr>
              <a:t>Soil moisture sensors continuously monitor soil conditions while temperature sensors collect environmental information. Sensor data is transmitted through IoT communication modules, and the system compares moisture levels with predefined thresholds. When moisture falls below the required level, the automated water pump is activated and irrigation continues until the required soil condition is met. The system continuously monitors the field and updates the dashboard in real time.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24768"/>
            <a:ext cx="10868745" cy="304602"/>
          </a:xfrm>
          <a:prstGeom prst="rect">
            <a:avLst/>
          </a:prstGeom>
          <a:noFill/>
          <a:ln/>
        </p:spPr>
        <p:txBody>
          <a:bodyPr wrap="none" lIns="0" tIns="0" rIns="0" bIns="0" rtlCol="0" anchor="t"/>
          <a:lstStyle/>
          <a:p>
            <a:pPr marL="0" indent="0" algn="l">
              <a:lnSpc>
                <a:spcPct val="104000"/>
              </a:lnSpc>
              <a:buNone/>
            </a:pPr>
            <a:r>
              <a:rPr lang="en-US" sz="1900" dirty="0">
                <a:solidFill>
                  <a:srgbClr val="3B4540"/>
                </a:solidFill>
                <a:latin typeface="Fraunces ExtraBold" pitchFamily="34" charset="0"/>
                <a:ea typeface="Fraunces ExtraBold" pitchFamily="34" charset="-122"/>
                <a:cs typeface="Fraunces ExtraBold" pitchFamily="34" charset="-120"/>
              </a:rPr>
              <a:t>Automated Irrigation Control</a:t>
            </a:r>
            <a:endParaRPr lang="en-US" sz="1900" dirty="0"/>
          </a:p>
        </p:txBody>
      </p:sp>
      <p:pic>
        <p:nvPicPr>
          <p:cNvPr id="3" name="Image 0" descr="preencoded.png"/>
          <p:cNvPicPr>
            <a:picLocks noChangeAspect="1"/>
          </p:cNvPicPr>
          <p:nvPr/>
        </p:nvPicPr>
        <p:blipFill>
          <a:blip r:embed="rId3"/>
          <a:stretch>
            <a:fillRect/>
          </a:stretch>
        </p:blipFill>
        <p:spPr>
          <a:xfrm>
            <a:off x="661475" y="961132"/>
            <a:ext cx="5315512" cy="5315645"/>
          </a:xfrm>
          <a:prstGeom prst="rect">
            <a:avLst/>
          </a:prstGeom>
        </p:spPr>
      </p:pic>
      <p:sp>
        <p:nvSpPr>
          <p:cNvPr id="4" name="Text 1"/>
          <p:cNvSpPr/>
          <p:nvPr/>
        </p:nvSpPr>
        <p:spPr>
          <a:xfrm>
            <a:off x="6221058" y="2765028"/>
            <a:ext cx="5315512" cy="152301"/>
          </a:xfrm>
          <a:prstGeom prst="rect">
            <a:avLst/>
          </a:prstGeom>
          <a:noFill/>
          <a:ln/>
        </p:spPr>
        <p:txBody>
          <a:bodyPr wrap="none" lIns="0" tIns="0" rIns="0" bIns="0" rtlCol="0" anchor="t"/>
          <a:lstStyle/>
          <a:p>
            <a:pPr marL="0" indent="0" algn="l">
              <a:lnSpc>
                <a:spcPct val="104000"/>
              </a:lnSpc>
              <a:buNone/>
            </a:pPr>
            <a:r>
              <a:rPr lang="en-US" sz="950" dirty="0">
                <a:solidFill>
                  <a:srgbClr val="3B4540"/>
                </a:solidFill>
                <a:latin typeface="Fraunces ExtraBold" pitchFamily="34" charset="0"/>
                <a:ea typeface="Fraunces ExtraBold" pitchFamily="34" charset="-122"/>
                <a:cs typeface="Fraunces ExtraBold" pitchFamily="34" charset="-120"/>
              </a:rPr>
              <a:t>Dynamic, Condition-Based Control</a:t>
            </a:r>
            <a:endParaRPr lang="en-US" sz="950" dirty="0"/>
          </a:p>
        </p:txBody>
      </p:sp>
      <p:sp>
        <p:nvSpPr>
          <p:cNvPr id="5" name="Text 2"/>
          <p:cNvSpPr/>
          <p:nvPr/>
        </p:nvSpPr>
        <p:spPr>
          <a:xfrm>
            <a:off x="6221058" y="2967534"/>
            <a:ext cx="5315512" cy="1067495"/>
          </a:xfrm>
          <a:prstGeom prst="rect">
            <a:avLst/>
          </a:prstGeom>
          <a:noFill/>
          <a:ln/>
        </p:spPr>
        <p:txBody>
          <a:bodyPr wrap="square" lIns="0" tIns="38985" rIns="0" bIns="0" rtlCol="0" anchor="t">
            <a:normAutofit/>
          </a:bodyPr>
          <a:lstStyle/>
          <a:p>
            <a:pPr marL="152400" indent="-152400" algn="l">
              <a:lnSpc>
                <a:spcPct val="101000"/>
              </a:lnSpc>
              <a:buSzPct val="100000"/>
              <a:buChar char="•"/>
            </a:pPr>
            <a:r>
              <a:rPr lang="en-US" sz="750" dirty="0">
                <a:solidFill>
                  <a:srgbClr val="405449"/>
                </a:solidFill>
                <a:latin typeface="Nobile" pitchFamily="34" charset="0"/>
                <a:ea typeface="Nobile" pitchFamily="34" charset="-122"/>
                <a:cs typeface="Nobile" pitchFamily="34" charset="-120"/>
              </a:rPr>
              <a:t>Monitor soil moisture continuously</a:t>
            </a:r>
            <a:endParaRPr lang="en-US" sz="750" dirty="0"/>
          </a:p>
          <a:p>
            <a:pPr marL="152400" indent="-152400" algn="l">
              <a:lnSpc>
                <a:spcPct val="101000"/>
              </a:lnSpc>
              <a:buSzPct val="100000"/>
              <a:buChar char="•"/>
            </a:pPr>
            <a:r>
              <a:rPr lang="en-US" sz="750" dirty="0">
                <a:solidFill>
                  <a:srgbClr val="405449"/>
                </a:solidFill>
                <a:latin typeface="Nobile" pitchFamily="34" charset="0"/>
                <a:ea typeface="Nobile" pitchFamily="34" charset="-122"/>
                <a:cs typeface="Nobile" pitchFamily="34" charset="-120"/>
              </a:rPr>
              <a:t>Define appropriate moisture thresholds</a:t>
            </a:r>
            <a:endParaRPr lang="en-US" sz="750" dirty="0"/>
          </a:p>
          <a:p>
            <a:pPr marL="152400" indent="-152400" algn="l">
              <a:lnSpc>
                <a:spcPct val="101000"/>
              </a:lnSpc>
              <a:buSzPct val="100000"/>
              <a:buChar char="•"/>
            </a:pPr>
            <a:r>
              <a:rPr lang="en-US" sz="750" dirty="0">
                <a:solidFill>
                  <a:srgbClr val="405449"/>
                </a:solidFill>
                <a:latin typeface="Nobile" pitchFamily="34" charset="0"/>
                <a:ea typeface="Nobile" pitchFamily="34" charset="-122"/>
                <a:cs typeface="Nobile" pitchFamily="34" charset="-120"/>
              </a:rPr>
              <a:t>Detect when soil moisture falls below the threshold</a:t>
            </a:r>
            <a:endParaRPr lang="en-US" sz="750" dirty="0"/>
          </a:p>
          <a:p>
            <a:pPr marL="152400" indent="-152400" algn="l">
              <a:lnSpc>
                <a:spcPct val="101000"/>
              </a:lnSpc>
              <a:buSzPct val="100000"/>
              <a:buChar char="•"/>
            </a:pPr>
            <a:r>
              <a:rPr lang="en-US" sz="750" dirty="0">
                <a:solidFill>
                  <a:srgbClr val="405449"/>
                </a:solidFill>
                <a:latin typeface="Nobile" pitchFamily="34" charset="0"/>
                <a:ea typeface="Nobile" pitchFamily="34" charset="-122"/>
                <a:cs typeface="Nobile" pitchFamily="34" charset="-120"/>
              </a:rPr>
              <a:t>Automatically activate the water pump</a:t>
            </a:r>
            <a:endParaRPr lang="en-US" sz="750" dirty="0"/>
          </a:p>
          <a:p>
            <a:pPr marL="152400" indent="-152400" algn="l">
              <a:lnSpc>
                <a:spcPct val="101000"/>
              </a:lnSpc>
              <a:buSzPct val="100000"/>
              <a:buChar char="•"/>
            </a:pPr>
            <a:r>
              <a:rPr lang="en-US" sz="750" dirty="0">
                <a:solidFill>
                  <a:srgbClr val="405449"/>
                </a:solidFill>
                <a:latin typeface="Nobile" pitchFamily="34" charset="0"/>
                <a:ea typeface="Nobile" pitchFamily="34" charset="-122"/>
                <a:cs typeface="Nobile" pitchFamily="34" charset="-120"/>
              </a:rPr>
              <a:t>Supply water to the field</a:t>
            </a:r>
            <a:endParaRPr lang="en-US" sz="750" dirty="0"/>
          </a:p>
          <a:p>
            <a:pPr marL="152400" indent="-152400" algn="l">
              <a:lnSpc>
                <a:spcPct val="101000"/>
              </a:lnSpc>
              <a:buSzPct val="100000"/>
              <a:buChar char="•"/>
            </a:pPr>
            <a:r>
              <a:rPr lang="en-US" sz="750" dirty="0">
                <a:solidFill>
                  <a:srgbClr val="405449"/>
                </a:solidFill>
                <a:latin typeface="Nobile" pitchFamily="34" charset="0"/>
                <a:ea typeface="Nobile" pitchFamily="34" charset="-122"/>
                <a:cs typeface="Nobile" pitchFamily="34" charset="-120"/>
              </a:rPr>
              <a:t>Continue monitoring moisture conditions</a:t>
            </a:r>
            <a:endParaRPr lang="en-US" sz="750" dirty="0"/>
          </a:p>
          <a:p>
            <a:pPr marL="152400" indent="-152400" algn="l">
              <a:lnSpc>
                <a:spcPct val="101000"/>
              </a:lnSpc>
              <a:buSzPct val="100000"/>
              <a:buChar char="•"/>
            </a:pPr>
            <a:r>
              <a:rPr lang="en-US" sz="750" dirty="0">
                <a:solidFill>
                  <a:srgbClr val="405449"/>
                </a:solidFill>
                <a:latin typeface="Nobile" pitchFamily="34" charset="0"/>
                <a:ea typeface="Nobile" pitchFamily="34" charset="-122"/>
                <a:cs typeface="Nobile" pitchFamily="34" charset="-120"/>
              </a:rPr>
              <a:t>Regulate irrigation based on changing soil conditions</a:t>
            </a:r>
            <a:endParaRPr lang="en-US" sz="750" dirty="0"/>
          </a:p>
          <a:p>
            <a:pPr marL="152400" indent="-152400" algn="l">
              <a:lnSpc>
                <a:spcPct val="101000"/>
              </a:lnSpc>
              <a:buSzPct val="100000"/>
              <a:buChar char="•"/>
            </a:pPr>
            <a:r>
              <a:rPr lang="en-US" sz="750" dirty="0">
                <a:solidFill>
                  <a:srgbClr val="405449"/>
                </a:solidFill>
                <a:latin typeface="Nobile" pitchFamily="34" charset="0"/>
                <a:ea typeface="Nobile" pitchFamily="34" charset="-122"/>
                <a:cs typeface="Nobile" pitchFamily="34" charset="-120"/>
              </a:rPr>
              <a:t>Reduce unnecessary manual intervention</a:t>
            </a:r>
            <a:endParaRPr lang="en-US" sz="750" dirty="0"/>
          </a:p>
        </p:txBody>
      </p:sp>
      <p:sp>
        <p:nvSpPr>
          <p:cNvPr id="6" name="Shape 3"/>
          <p:cNvSpPr/>
          <p:nvPr/>
        </p:nvSpPr>
        <p:spPr>
          <a:xfrm>
            <a:off x="6221058" y="4091484"/>
            <a:ext cx="5315512" cy="375047"/>
          </a:xfrm>
          <a:prstGeom prst="roundRect">
            <a:avLst>
              <a:gd name="adj" fmla="val 23388"/>
            </a:avLst>
          </a:prstGeom>
          <a:solidFill>
            <a:srgbClr val="B6FCB8"/>
          </a:solidFill>
          <a:ln/>
        </p:spPr>
      </p:sp>
      <p:pic>
        <p:nvPicPr>
          <p:cNvPr id="7" name="Image 1" descr="preencoded.png"/>
          <p:cNvPicPr>
            <a:picLocks noChangeAspect="1"/>
          </p:cNvPicPr>
          <p:nvPr/>
        </p:nvPicPr>
        <p:blipFill>
          <a:blip r:embed="rId4"/>
          <a:stretch>
            <a:fillRect/>
          </a:stretch>
        </p:blipFill>
        <p:spPr>
          <a:xfrm>
            <a:off x="6318489" y="4165997"/>
            <a:ext cx="121738" cy="97433"/>
          </a:xfrm>
          <a:prstGeom prst="rect">
            <a:avLst/>
          </a:prstGeom>
        </p:spPr>
      </p:pic>
      <p:sp>
        <p:nvSpPr>
          <p:cNvPr id="8" name="Text 4"/>
          <p:cNvSpPr/>
          <p:nvPr/>
        </p:nvSpPr>
        <p:spPr>
          <a:xfrm>
            <a:off x="6537658" y="4160937"/>
            <a:ext cx="4901482" cy="236141"/>
          </a:xfrm>
          <a:prstGeom prst="rect">
            <a:avLst/>
          </a:prstGeom>
          <a:noFill/>
          <a:ln/>
        </p:spPr>
        <p:txBody>
          <a:bodyPr wrap="square" lIns="0" tIns="0" rIns="0" bIns="0" rtlCol="0" anchor="t">
            <a:normAutofit/>
          </a:bodyPr>
          <a:lstStyle/>
          <a:p>
            <a:pPr marL="0" indent="0" algn="l">
              <a:lnSpc>
                <a:spcPct val="101000"/>
              </a:lnSpc>
              <a:buNone/>
            </a:pPr>
            <a:r>
              <a:rPr lang="en-US" sz="750" dirty="0">
                <a:solidFill>
                  <a:srgbClr val="000000"/>
                </a:solidFill>
                <a:latin typeface="Nobile" pitchFamily="34" charset="0"/>
                <a:ea typeface="Nobile" pitchFamily="34" charset="-122"/>
                <a:cs typeface="Nobile" pitchFamily="34" charset="-120"/>
              </a:rPr>
              <a:t>This automated approach prevents both over-irrigation and insufficient water supply by responding dynamically to actual soil conditions rather than relying on fixed schedules.</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521593"/>
            <a:ext cx="6296860" cy="1070570"/>
          </a:xfrm>
          <a:prstGeom prst="rect">
            <a:avLst/>
          </a:prstGeom>
          <a:noFill/>
          <a:ln/>
        </p:spPr>
        <p:txBody>
          <a:bodyPr wrap="square" lIns="0" tIns="0" rIns="0" bIns="0" rtlCol="0" anchor="t">
            <a:normAutofit/>
          </a:bodyPr>
          <a:lstStyle/>
          <a:p>
            <a:pPr marL="0" indent="0" algn="l">
              <a:lnSpc>
                <a:spcPct val="104000"/>
              </a:lnSpc>
              <a:buNone/>
            </a:pPr>
            <a:r>
              <a:rPr lang="en-US" sz="3350" dirty="0">
                <a:solidFill>
                  <a:srgbClr val="3B4540"/>
                </a:solidFill>
                <a:latin typeface="Fraunces ExtraBold" pitchFamily="34" charset="0"/>
                <a:ea typeface="Fraunces ExtraBold" pitchFamily="34" charset="-122"/>
                <a:cs typeface="Fraunces ExtraBold" pitchFamily="34" charset="-120"/>
              </a:rPr>
              <a:t>IoT Monitoring and Dashboard</a:t>
            </a:r>
            <a:endParaRPr lang="en-US" sz="3350" dirty="0"/>
          </a:p>
        </p:txBody>
      </p:sp>
      <p:sp>
        <p:nvSpPr>
          <p:cNvPr id="4" name="Shape 1"/>
          <p:cNvSpPr/>
          <p:nvPr/>
        </p:nvSpPr>
        <p:spPr>
          <a:xfrm>
            <a:off x="661475" y="1824930"/>
            <a:ext cx="3070843" cy="2117923"/>
          </a:xfrm>
          <a:prstGeom prst="roundRect">
            <a:avLst>
              <a:gd name="adj" fmla="val 7279"/>
            </a:avLst>
          </a:prstGeom>
          <a:solidFill>
            <a:srgbClr val="E8F3E8"/>
          </a:solidFill>
          <a:ln/>
        </p:spPr>
      </p:sp>
      <p:sp>
        <p:nvSpPr>
          <p:cNvPr id="5" name="Text 2"/>
          <p:cNvSpPr/>
          <p:nvPr/>
        </p:nvSpPr>
        <p:spPr>
          <a:xfrm>
            <a:off x="832722" y="1996182"/>
            <a:ext cx="2728348" cy="267593"/>
          </a:xfrm>
          <a:prstGeom prst="rect">
            <a:avLst/>
          </a:prstGeom>
          <a:noFill/>
          <a:ln/>
        </p:spPr>
        <p:txBody>
          <a:bodyPr wrap="none" lIns="0" tIns="0" rIns="0" bIns="0" rtlCol="0" anchor="t"/>
          <a:lstStyle/>
          <a:p>
            <a:pPr marL="0" indent="0" algn="l">
              <a:lnSpc>
                <a:spcPct val="104000"/>
              </a:lnSpc>
              <a:buNone/>
            </a:pPr>
            <a:r>
              <a:rPr lang="en-US" sz="1650" dirty="0">
                <a:solidFill>
                  <a:srgbClr val="405449"/>
                </a:solidFill>
                <a:latin typeface="Fraunces ExtraBold" pitchFamily="34" charset="0"/>
                <a:ea typeface="Fraunces ExtraBold" pitchFamily="34" charset="-122"/>
                <a:cs typeface="Fraunces ExtraBold" pitchFamily="34" charset="-120"/>
              </a:rPr>
              <a:t>Real-Time Monitoring</a:t>
            </a:r>
            <a:endParaRPr lang="en-US" sz="1650" dirty="0"/>
          </a:p>
        </p:txBody>
      </p:sp>
      <p:sp>
        <p:nvSpPr>
          <p:cNvPr id="6" name="Text 3"/>
          <p:cNvSpPr/>
          <p:nvPr/>
        </p:nvSpPr>
        <p:spPr>
          <a:xfrm>
            <a:off x="832722" y="2356842"/>
            <a:ext cx="2728348" cy="1207790"/>
          </a:xfrm>
          <a:prstGeom prst="rect">
            <a:avLst/>
          </a:prstGeom>
          <a:noFill/>
          <a:ln/>
        </p:spPr>
        <p:txBody>
          <a:bodyPr wrap="square" lIns="0" tIns="68519" rIns="0" bIns="0" rtlCol="0" anchor="t">
            <a:normAutofit/>
          </a:bodyPr>
          <a:lstStyle/>
          <a:p>
            <a:pPr marL="264160" indent="-264160" algn="l">
              <a:lnSpc>
                <a:spcPct val="127000"/>
              </a:lnSpc>
              <a:buSzPct val="100000"/>
              <a:buChar char="•"/>
            </a:pPr>
            <a:r>
              <a:rPr lang="en-US" sz="1300" dirty="0">
                <a:solidFill>
                  <a:srgbClr val="405449"/>
                </a:solidFill>
                <a:latin typeface="Nobile" pitchFamily="34" charset="0"/>
                <a:ea typeface="Nobile" pitchFamily="34" charset="-122"/>
                <a:cs typeface="Nobile" pitchFamily="34" charset="-120"/>
              </a:rPr>
              <a:t>Soil condition monitoring</a:t>
            </a:r>
            <a:endParaRPr lang="en-US" sz="1300" dirty="0"/>
          </a:p>
          <a:p>
            <a:pPr marL="264160" indent="-264160" algn="l">
              <a:lnSpc>
                <a:spcPct val="127000"/>
              </a:lnSpc>
              <a:buSzPct val="100000"/>
              <a:buChar char="•"/>
            </a:pPr>
            <a:r>
              <a:rPr lang="en-US" sz="1300" dirty="0">
                <a:solidFill>
                  <a:srgbClr val="405449"/>
                </a:solidFill>
                <a:latin typeface="Nobile" pitchFamily="34" charset="0"/>
                <a:ea typeface="Nobile" pitchFamily="34" charset="-122"/>
                <a:cs typeface="Nobile" pitchFamily="34" charset="-120"/>
              </a:rPr>
              <a:t>Temperature monitoring</a:t>
            </a:r>
            <a:endParaRPr lang="en-US" sz="1300" dirty="0"/>
          </a:p>
          <a:p>
            <a:pPr marL="264160" indent="-264160" algn="l">
              <a:lnSpc>
                <a:spcPct val="127000"/>
              </a:lnSpc>
              <a:buSzPct val="100000"/>
              <a:buChar char="•"/>
            </a:pPr>
            <a:r>
              <a:rPr lang="en-US" sz="1300" dirty="0">
                <a:solidFill>
                  <a:srgbClr val="405449"/>
                </a:solidFill>
                <a:latin typeface="Nobile" pitchFamily="34" charset="0"/>
                <a:ea typeface="Nobile" pitchFamily="34" charset="-122"/>
                <a:cs typeface="Nobile" pitchFamily="34" charset="-120"/>
              </a:rPr>
              <a:t>Irrigation status tracking</a:t>
            </a:r>
            <a:endParaRPr lang="en-US" sz="1300" dirty="0"/>
          </a:p>
          <a:p>
            <a:pPr marL="264160" indent="-264160" algn="l">
              <a:lnSpc>
                <a:spcPct val="127000"/>
              </a:lnSpc>
              <a:buSzPct val="100000"/>
              <a:buChar char="•"/>
            </a:pPr>
            <a:r>
              <a:rPr lang="en-US" sz="1300" dirty="0">
                <a:solidFill>
                  <a:srgbClr val="405449"/>
                </a:solidFill>
                <a:latin typeface="Nobile" pitchFamily="34" charset="0"/>
                <a:ea typeface="Nobile" pitchFamily="34" charset="-122"/>
                <a:cs typeface="Nobile" pitchFamily="34" charset="-120"/>
              </a:rPr>
              <a:t>Water pump activity tracking</a:t>
            </a:r>
            <a:endParaRPr lang="en-US" sz="1300" dirty="0"/>
          </a:p>
        </p:txBody>
      </p:sp>
      <p:sp>
        <p:nvSpPr>
          <p:cNvPr id="7" name="Shape 4"/>
          <p:cNvSpPr/>
          <p:nvPr/>
        </p:nvSpPr>
        <p:spPr>
          <a:xfrm>
            <a:off x="3887492" y="1824930"/>
            <a:ext cx="3070843" cy="2117923"/>
          </a:xfrm>
          <a:prstGeom prst="roundRect">
            <a:avLst>
              <a:gd name="adj" fmla="val 7279"/>
            </a:avLst>
          </a:prstGeom>
          <a:solidFill>
            <a:srgbClr val="E8F3E8"/>
          </a:solidFill>
          <a:ln/>
        </p:spPr>
      </p:sp>
      <p:sp>
        <p:nvSpPr>
          <p:cNvPr id="8" name="Text 5"/>
          <p:cNvSpPr/>
          <p:nvPr/>
        </p:nvSpPr>
        <p:spPr>
          <a:xfrm>
            <a:off x="4058739" y="1996182"/>
            <a:ext cx="2728348" cy="267593"/>
          </a:xfrm>
          <a:prstGeom prst="rect">
            <a:avLst/>
          </a:prstGeom>
          <a:noFill/>
          <a:ln/>
        </p:spPr>
        <p:txBody>
          <a:bodyPr wrap="none" lIns="0" tIns="0" rIns="0" bIns="0" rtlCol="0" anchor="t"/>
          <a:lstStyle/>
          <a:p>
            <a:pPr marL="0" indent="0" algn="l">
              <a:lnSpc>
                <a:spcPct val="104000"/>
              </a:lnSpc>
              <a:buNone/>
            </a:pPr>
            <a:r>
              <a:rPr lang="en-US" sz="1650" dirty="0">
                <a:solidFill>
                  <a:srgbClr val="405449"/>
                </a:solidFill>
                <a:latin typeface="Fraunces ExtraBold" pitchFamily="34" charset="0"/>
                <a:ea typeface="Fraunces ExtraBold" pitchFamily="34" charset="-122"/>
                <a:cs typeface="Fraunces ExtraBold" pitchFamily="34" charset="-120"/>
              </a:rPr>
              <a:t>Data &amp; Analytics</a:t>
            </a:r>
            <a:endParaRPr lang="en-US" sz="1650" dirty="0"/>
          </a:p>
        </p:txBody>
      </p:sp>
      <p:sp>
        <p:nvSpPr>
          <p:cNvPr id="9" name="Text 6"/>
          <p:cNvSpPr/>
          <p:nvPr/>
        </p:nvSpPr>
        <p:spPr>
          <a:xfrm>
            <a:off x="4058739" y="2356842"/>
            <a:ext cx="2728348" cy="1414760"/>
          </a:xfrm>
          <a:prstGeom prst="rect">
            <a:avLst/>
          </a:prstGeom>
          <a:noFill/>
          <a:ln/>
        </p:spPr>
        <p:txBody>
          <a:bodyPr wrap="square" lIns="0" tIns="68519" rIns="0" bIns="0" rtlCol="0" anchor="t">
            <a:normAutofit/>
          </a:bodyPr>
          <a:lstStyle/>
          <a:p>
            <a:pPr marL="264160" indent="-264160" algn="l">
              <a:lnSpc>
                <a:spcPct val="127000"/>
              </a:lnSpc>
              <a:buSzPct val="100000"/>
              <a:buChar char="•"/>
            </a:pPr>
            <a:r>
              <a:rPr lang="en-US" sz="1300" dirty="0">
                <a:solidFill>
                  <a:srgbClr val="405449"/>
                </a:solidFill>
                <a:latin typeface="Nobile" pitchFamily="34" charset="0"/>
                <a:ea typeface="Nobile" pitchFamily="34" charset="-122"/>
                <a:cs typeface="Nobile" pitchFamily="34" charset="-120"/>
              </a:rPr>
              <a:t>Environmental data recording</a:t>
            </a:r>
            <a:endParaRPr lang="en-US" sz="1300" dirty="0"/>
          </a:p>
          <a:p>
            <a:pPr marL="264160" indent="-264160" algn="l">
              <a:lnSpc>
                <a:spcPct val="127000"/>
              </a:lnSpc>
              <a:buSzPct val="100000"/>
              <a:buChar char="•"/>
            </a:pPr>
            <a:r>
              <a:rPr lang="en-US" sz="1300" dirty="0">
                <a:solidFill>
                  <a:srgbClr val="405449"/>
                </a:solidFill>
                <a:latin typeface="Nobile" pitchFamily="34" charset="0"/>
                <a:ea typeface="Nobile" pitchFamily="34" charset="-122"/>
                <a:cs typeface="Nobile" pitchFamily="34" charset="-120"/>
              </a:rPr>
              <a:t>Irrigation reports and analytics</a:t>
            </a:r>
            <a:endParaRPr lang="en-US" sz="1300" dirty="0"/>
          </a:p>
          <a:p>
            <a:pPr marL="264160" indent="-264160" algn="l">
              <a:lnSpc>
                <a:spcPct val="127000"/>
              </a:lnSpc>
              <a:buSzPct val="100000"/>
              <a:buChar char="•"/>
            </a:pPr>
            <a:r>
              <a:rPr lang="en-US" sz="1300" dirty="0">
                <a:solidFill>
                  <a:srgbClr val="405449"/>
                </a:solidFill>
                <a:latin typeface="Nobile" pitchFamily="34" charset="0"/>
                <a:ea typeface="Nobile" pitchFamily="34" charset="-122"/>
                <a:cs typeface="Nobile" pitchFamily="34" charset="-120"/>
              </a:rPr>
              <a:t>Interactive dashboards for data visualization</a:t>
            </a:r>
            <a:endParaRPr lang="en-US" sz="1300" dirty="0"/>
          </a:p>
        </p:txBody>
      </p:sp>
      <p:sp>
        <p:nvSpPr>
          <p:cNvPr id="10" name="Shape 7"/>
          <p:cNvSpPr/>
          <p:nvPr/>
        </p:nvSpPr>
        <p:spPr>
          <a:xfrm>
            <a:off x="661475" y="4098032"/>
            <a:ext cx="6296860" cy="1279922"/>
          </a:xfrm>
          <a:prstGeom prst="roundRect">
            <a:avLst>
              <a:gd name="adj" fmla="val 12045"/>
            </a:avLst>
          </a:prstGeom>
          <a:solidFill>
            <a:srgbClr val="E8F3E8"/>
          </a:solidFill>
          <a:ln/>
        </p:spPr>
      </p:sp>
      <p:sp>
        <p:nvSpPr>
          <p:cNvPr id="11" name="Text 8"/>
          <p:cNvSpPr/>
          <p:nvPr/>
        </p:nvSpPr>
        <p:spPr>
          <a:xfrm>
            <a:off x="832722" y="4269284"/>
            <a:ext cx="5954365" cy="267593"/>
          </a:xfrm>
          <a:prstGeom prst="rect">
            <a:avLst/>
          </a:prstGeom>
          <a:noFill/>
          <a:ln/>
        </p:spPr>
        <p:txBody>
          <a:bodyPr wrap="none" lIns="0" tIns="0" rIns="0" bIns="0" rtlCol="0" anchor="t"/>
          <a:lstStyle/>
          <a:p>
            <a:pPr marL="0" indent="0" algn="l">
              <a:lnSpc>
                <a:spcPct val="104000"/>
              </a:lnSpc>
              <a:buNone/>
            </a:pPr>
            <a:r>
              <a:rPr lang="en-US" sz="1650" dirty="0">
                <a:solidFill>
                  <a:srgbClr val="405449"/>
                </a:solidFill>
                <a:latin typeface="Fraunces ExtraBold" pitchFamily="34" charset="0"/>
                <a:ea typeface="Fraunces ExtraBold" pitchFamily="34" charset="-122"/>
                <a:cs typeface="Fraunces ExtraBold" pitchFamily="34" charset="-120"/>
              </a:rPr>
              <a:t>Remote Capabilities</a:t>
            </a:r>
            <a:endParaRPr lang="en-US" sz="1650" dirty="0"/>
          </a:p>
        </p:txBody>
      </p:sp>
      <p:sp>
        <p:nvSpPr>
          <p:cNvPr id="12" name="Text 9"/>
          <p:cNvSpPr/>
          <p:nvPr/>
        </p:nvSpPr>
        <p:spPr>
          <a:xfrm>
            <a:off x="832722" y="4629944"/>
            <a:ext cx="5954365" cy="576759"/>
          </a:xfrm>
          <a:prstGeom prst="rect">
            <a:avLst/>
          </a:prstGeom>
          <a:noFill/>
          <a:ln/>
        </p:spPr>
        <p:txBody>
          <a:bodyPr wrap="square" lIns="0" tIns="68519" rIns="0" bIns="0" rtlCol="0" anchor="t">
            <a:normAutofit/>
          </a:bodyPr>
          <a:lstStyle/>
          <a:p>
            <a:pPr marL="264160" indent="-264160" algn="l">
              <a:lnSpc>
                <a:spcPct val="127000"/>
              </a:lnSpc>
              <a:buSzPct val="100000"/>
              <a:buChar char="•"/>
            </a:pPr>
            <a:r>
              <a:rPr lang="en-US" sz="1300" dirty="0">
                <a:solidFill>
                  <a:srgbClr val="405449"/>
                </a:solidFill>
                <a:latin typeface="Nobile" pitchFamily="34" charset="0"/>
                <a:ea typeface="Nobile" pitchFamily="34" charset="-122"/>
                <a:cs typeface="Nobile" pitchFamily="34" charset="-120"/>
              </a:rPr>
              <a:t>Remote field monitoring</a:t>
            </a:r>
            <a:endParaRPr lang="en-US" sz="1300" dirty="0"/>
          </a:p>
          <a:p>
            <a:pPr marL="264160" indent="-264160" algn="l">
              <a:lnSpc>
                <a:spcPct val="127000"/>
              </a:lnSpc>
              <a:buSzPct val="100000"/>
              <a:buChar char="•"/>
            </a:pPr>
            <a:r>
              <a:rPr lang="en-US" sz="1300" dirty="0">
                <a:solidFill>
                  <a:srgbClr val="405449"/>
                </a:solidFill>
                <a:latin typeface="Nobile" pitchFamily="34" charset="0"/>
                <a:ea typeface="Nobile" pitchFamily="34" charset="-122"/>
                <a:cs typeface="Nobile" pitchFamily="34" charset="-120"/>
              </a:rPr>
              <a:t>Remote irrigation control through connected devices</a:t>
            </a:r>
            <a:endParaRPr lang="en-US" sz="1300" dirty="0"/>
          </a:p>
        </p:txBody>
      </p:sp>
      <p:sp>
        <p:nvSpPr>
          <p:cNvPr id="13" name="Text 10"/>
          <p:cNvSpPr/>
          <p:nvPr/>
        </p:nvSpPr>
        <p:spPr>
          <a:xfrm>
            <a:off x="661475" y="5552579"/>
            <a:ext cx="6296860" cy="783729"/>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405449"/>
                </a:solidFill>
                <a:latin typeface="Nobile" pitchFamily="34" charset="0"/>
                <a:ea typeface="Nobile" pitchFamily="34" charset="-122"/>
                <a:cs typeface="Nobile" pitchFamily="34" charset="-120"/>
              </a:rPr>
              <a:t>The dashboard provides farmers with comprehensive information about field conditions, system performance, and irrigation history, enabling informed decision-making and remote management of irrigation operations.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41635"/>
            <a:ext cx="10868745" cy="553740"/>
          </a:xfrm>
          <a:prstGeom prst="rect">
            <a:avLst/>
          </a:prstGeom>
          <a:noFill/>
          <a:ln/>
        </p:spPr>
        <p:txBody>
          <a:bodyPr wrap="none" lIns="0" tIns="0" rIns="0" bIns="0" rtlCol="0" anchor="t"/>
          <a:lstStyle/>
          <a:p>
            <a:pPr marL="0" indent="0" algn="l">
              <a:lnSpc>
                <a:spcPct val="104000"/>
              </a:lnSpc>
              <a:buNone/>
            </a:pPr>
            <a:r>
              <a:rPr lang="en-US" sz="3450" dirty="0">
                <a:solidFill>
                  <a:srgbClr val="3B4540"/>
                </a:solidFill>
                <a:latin typeface="Fraunces ExtraBold" pitchFamily="34" charset="0"/>
                <a:ea typeface="Fraunces ExtraBold" pitchFamily="34" charset="-122"/>
                <a:cs typeface="Fraunces ExtraBold" pitchFamily="34" charset="-120"/>
              </a:rPr>
              <a:t>Benefits and Impact</a:t>
            </a:r>
            <a:endParaRPr lang="en-US" sz="3450" dirty="0"/>
          </a:p>
        </p:txBody>
      </p:sp>
      <p:sp>
        <p:nvSpPr>
          <p:cNvPr id="3" name="Text 1"/>
          <p:cNvSpPr/>
          <p:nvPr/>
        </p:nvSpPr>
        <p:spPr>
          <a:xfrm>
            <a:off x="1226214" y="1488380"/>
            <a:ext cx="10304006" cy="276920"/>
          </a:xfrm>
          <a:prstGeom prst="rect">
            <a:avLst/>
          </a:prstGeom>
          <a:noFill/>
          <a:ln/>
        </p:spPr>
        <p:txBody>
          <a:bodyPr wrap="none" lIns="0" tIns="0" rIns="0" bIns="0" rtlCol="0" anchor="t"/>
          <a:lstStyle/>
          <a:p>
            <a:pPr marL="0" indent="0" algn="l">
              <a:lnSpc>
                <a:spcPct val="104000"/>
              </a:lnSpc>
              <a:buNone/>
            </a:pPr>
            <a:r>
              <a:rPr lang="en-US" sz="1700" dirty="0">
                <a:solidFill>
                  <a:srgbClr val="405449"/>
                </a:solidFill>
                <a:latin typeface="Fraunces ExtraBold" pitchFamily="34" charset="0"/>
                <a:ea typeface="Fraunces ExtraBold" pitchFamily="34" charset="-122"/>
                <a:cs typeface="Fraunces ExtraBold" pitchFamily="34" charset="-120"/>
              </a:rPr>
              <a:t>Water Conservation</a:t>
            </a:r>
            <a:endParaRPr lang="en-US" sz="1700" dirty="0"/>
          </a:p>
        </p:txBody>
      </p:sp>
      <p:sp>
        <p:nvSpPr>
          <p:cNvPr id="4" name="Text 2"/>
          <p:cNvSpPr/>
          <p:nvPr/>
        </p:nvSpPr>
        <p:spPr>
          <a:xfrm>
            <a:off x="1226214" y="1864916"/>
            <a:ext cx="10304006" cy="274638"/>
          </a:xfrm>
          <a:prstGeom prst="rect">
            <a:avLst/>
          </a:prstGeom>
          <a:noFill/>
          <a:ln/>
        </p:spPr>
        <p:txBody>
          <a:bodyPr wrap="none" lIns="0" tIns="0" rIns="0" bIns="0" rtlCol="0" anchor="t"/>
          <a:lstStyle/>
          <a:p>
            <a:pPr marL="0" indent="0" algn="l">
              <a:lnSpc>
                <a:spcPct val="129000"/>
              </a:lnSpc>
              <a:buNone/>
            </a:pPr>
            <a:r>
              <a:rPr lang="en-US" sz="1350" dirty="0">
                <a:solidFill>
                  <a:srgbClr val="405449"/>
                </a:solidFill>
                <a:latin typeface="Nobile" pitchFamily="34" charset="0"/>
                <a:ea typeface="Nobile" pitchFamily="34" charset="-122"/>
                <a:cs typeface="Nobile" pitchFamily="34" charset="-120"/>
              </a:rPr>
              <a:t>Improves water conservation through efficient usage and reduces unnecessary water consumption and associated costs.</a:t>
            </a:r>
            <a:endParaRPr lang="en-US" sz="1350" dirty="0"/>
          </a:p>
        </p:txBody>
      </p:sp>
      <p:sp>
        <p:nvSpPr>
          <p:cNvPr id="5" name="Text 3"/>
          <p:cNvSpPr/>
          <p:nvPr/>
        </p:nvSpPr>
        <p:spPr>
          <a:xfrm>
            <a:off x="1226214" y="2532559"/>
            <a:ext cx="10304006" cy="276920"/>
          </a:xfrm>
          <a:prstGeom prst="rect">
            <a:avLst/>
          </a:prstGeom>
          <a:noFill/>
          <a:ln/>
        </p:spPr>
        <p:txBody>
          <a:bodyPr wrap="none" lIns="0" tIns="0" rIns="0" bIns="0" rtlCol="0" anchor="t"/>
          <a:lstStyle/>
          <a:p>
            <a:pPr marL="0" indent="0" algn="l">
              <a:lnSpc>
                <a:spcPct val="104000"/>
              </a:lnSpc>
              <a:buNone/>
            </a:pPr>
            <a:r>
              <a:rPr lang="en-US" sz="1700" dirty="0">
                <a:solidFill>
                  <a:srgbClr val="405449"/>
                </a:solidFill>
                <a:latin typeface="Fraunces ExtraBold" pitchFamily="34" charset="0"/>
                <a:ea typeface="Fraunces ExtraBold" pitchFamily="34" charset="-122"/>
                <a:cs typeface="Fraunces ExtraBold" pitchFamily="34" charset="-120"/>
              </a:rPr>
              <a:t>Optimized Crop Irrigation</a:t>
            </a:r>
            <a:endParaRPr lang="en-US" sz="1700" dirty="0"/>
          </a:p>
        </p:txBody>
      </p:sp>
      <p:sp>
        <p:nvSpPr>
          <p:cNvPr id="6" name="Text 4"/>
          <p:cNvSpPr/>
          <p:nvPr/>
        </p:nvSpPr>
        <p:spPr>
          <a:xfrm>
            <a:off x="1226214" y="2909094"/>
            <a:ext cx="10304006" cy="274638"/>
          </a:xfrm>
          <a:prstGeom prst="rect">
            <a:avLst/>
          </a:prstGeom>
          <a:noFill/>
          <a:ln/>
        </p:spPr>
        <p:txBody>
          <a:bodyPr wrap="none" lIns="0" tIns="0" rIns="0" bIns="0" rtlCol="0" anchor="t"/>
          <a:lstStyle/>
          <a:p>
            <a:pPr marL="0" indent="0" algn="l">
              <a:lnSpc>
                <a:spcPct val="129000"/>
              </a:lnSpc>
              <a:buNone/>
            </a:pPr>
            <a:r>
              <a:rPr lang="en-US" sz="1350" dirty="0">
                <a:solidFill>
                  <a:srgbClr val="405449"/>
                </a:solidFill>
                <a:latin typeface="Nobile" pitchFamily="34" charset="0"/>
                <a:ea typeface="Nobile" pitchFamily="34" charset="-122"/>
                <a:cs typeface="Nobile" pitchFamily="34" charset="-120"/>
              </a:rPr>
              <a:t>Optimizes crop irrigation based on actual soil conditions, enhancing agricultural productivity and crop yield.</a:t>
            </a:r>
            <a:endParaRPr lang="en-US" sz="1350" dirty="0"/>
          </a:p>
        </p:txBody>
      </p:sp>
      <p:sp>
        <p:nvSpPr>
          <p:cNvPr id="7" name="Text 5"/>
          <p:cNvSpPr/>
          <p:nvPr/>
        </p:nvSpPr>
        <p:spPr>
          <a:xfrm>
            <a:off x="1226214" y="3576737"/>
            <a:ext cx="10304006" cy="276920"/>
          </a:xfrm>
          <a:prstGeom prst="rect">
            <a:avLst/>
          </a:prstGeom>
          <a:noFill/>
          <a:ln/>
        </p:spPr>
        <p:txBody>
          <a:bodyPr wrap="none" lIns="0" tIns="0" rIns="0" bIns="0" rtlCol="0" anchor="t"/>
          <a:lstStyle/>
          <a:p>
            <a:pPr marL="0" indent="0" algn="l">
              <a:lnSpc>
                <a:spcPct val="104000"/>
              </a:lnSpc>
              <a:buNone/>
            </a:pPr>
            <a:r>
              <a:rPr lang="en-US" sz="1700" dirty="0">
                <a:solidFill>
                  <a:srgbClr val="405449"/>
                </a:solidFill>
                <a:latin typeface="Fraunces ExtraBold" pitchFamily="34" charset="0"/>
                <a:ea typeface="Fraunces ExtraBold" pitchFamily="34" charset="-122"/>
                <a:cs typeface="Fraunces ExtraBold" pitchFamily="34" charset="-120"/>
              </a:rPr>
              <a:t>Reduced Labor</a:t>
            </a:r>
            <a:endParaRPr lang="en-US" sz="1700" dirty="0"/>
          </a:p>
        </p:txBody>
      </p:sp>
      <p:sp>
        <p:nvSpPr>
          <p:cNvPr id="8" name="Text 6"/>
          <p:cNvSpPr/>
          <p:nvPr/>
        </p:nvSpPr>
        <p:spPr>
          <a:xfrm>
            <a:off x="1226214" y="3953272"/>
            <a:ext cx="10304006" cy="274638"/>
          </a:xfrm>
          <a:prstGeom prst="rect">
            <a:avLst/>
          </a:prstGeom>
          <a:noFill/>
          <a:ln/>
        </p:spPr>
        <p:txBody>
          <a:bodyPr wrap="none" lIns="0" tIns="0" rIns="0" bIns="0" rtlCol="0" anchor="t"/>
          <a:lstStyle/>
          <a:p>
            <a:pPr marL="0" indent="0" algn="l">
              <a:lnSpc>
                <a:spcPct val="129000"/>
              </a:lnSpc>
              <a:buNone/>
            </a:pPr>
            <a:r>
              <a:rPr lang="en-US" sz="1350" dirty="0">
                <a:solidFill>
                  <a:srgbClr val="405449"/>
                </a:solidFill>
                <a:latin typeface="Nobile" pitchFamily="34" charset="0"/>
                <a:ea typeface="Nobile" pitchFamily="34" charset="-122"/>
                <a:cs typeface="Nobile" pitchFamily="34" charset="-120"/>
              </a:rPr>
              <a:t>Reduces manual effort and labor requirements by providing automated irrigation control without human intervention.</a:t>
            </a:r>
            <a:endParaRPr lang="en-US" sz="1350" dirty="0"/>
          </a:p>
        </p:txBody>
      </p:sp>
      <p:sp>
        <p:nvSpPr>
          <p:cNvPr id="9" name="Text 7"/>
          <p:cNvSpPr/>
          <p:nvPr/>
        </p:nvSpPr>
        <p:spPr>
          <a:xfrm>
            <a:off x="1226214" y="4620915"/>
            <a:ext cx="10304006" cy="276920"/>
          </a:xfrm>
          <a:prstGeom prst="rect">
            <a:avLst/>
          </a:prstGeom>
          <a:noFill/>
          <a:ln/>
        </p:spPr>
        <p:txBody>
          <a:bodyPr wrap="none" lIns="0" tIns="0" rIns="0" bIns="0" rtlCol="0" anchor="t"/>
          <a:lstStyle/>
          <a:p>
            <a:pPr marL="0" indent="0" algn="l">
              <a:lnSpc>
                <a:spcPct val="104000"/>
              </a:lnSpc>
              <a:buNone/>
            </a:pPr>
            <a:r>
              <a:rPr lang="en-US" sz="1700" dirty="0">
                <a:solidFill>
                  <a:srgbClr val="405449"/>
                </a:solidFill>
                <a:latin typeface="Fraunces ExtraBold" pitchFamily="34" charset="0"/>
                <a:ea typeface="Fraunces ExtraBold" pitchFamily="34" charset="-122"/>
                <a:cs typeface="Fraunces ExtraBold" pitchFamily="34" charset="-120"/>
              </a:rPr>
              <a:t>Remote Management</a:t>
            </a:r>
            <a:endParaRPr lang="en-US" sz="1700" dirty="0"/>
          </a:p>
        </p:txBody>
      </p:sp>
      <p:sp>
        <p:nvSpPr>
          <p:cNvPr id="10" name="Text 8"/>
          <p:cNvSpPr/>
          <p:nvPr/>
        </p:nvSpPr>
        <p:spPr>
          <a:xfrm>
            <a:off x="1226214" y="4997450"/>
            <a:ext cx="10304006" cy="274638"/>
          </a:xfrm>
          <a:prstGeom prst="rect">
            <a:avLst/>
          </a:prstGeom>
          <a:noFill/>
          <a:ln/>
        </p:spPr>
        <p:txBody>
          <a:bodyPr wrap="none" lIns="0" tIns="0" rIns="0" bIns="0" rtlCol="0" anchor="t"/>
          <a:lstStyle/>
          <a:p>
            <a:pPr marL="0" indent="0" algn="l">
              <a:lnSpc>
                <a:spcPct val="129000"/>
              </a:lnSpc>
              <a:buNone/>
            </a:pPr>
            <a:r>
              <a:rPr lang="en-US" sz="1350" dirty="0">
                <a:solidFill>
                  <a:srgbClr val="405449"/>
                </a:solidFill>
                <a:latin typeface="Nobile" pitchFamily="34" charset="0"/>
                <a:ea typeface="Nobile" pitchFamily="34" charset="-122"/>
                <a:cs typeface="Nobile" pitchFamily="34" charset="-120"/>
              </a:rPr>
              <a:t>Enables real-time monitoring of field conditions and helps farmers monitor and manage operations remotely.</a:t>
            </a:r>
            <a:endParaRPr lang="en-US" sz="1350" dirty="0"/>
          </a:p>
        </p:txBody>
      </p:sp>
      <p:sp>
        <p:nvSpPr>
          <p:cNvPr id="11" name="Text 9"/>
          <p:cNvSpPr/>
          <p:nvPr/>
        </p:nvSpPr>
        <p:spPr>
          <a:xfrm>
            <a:off x="1226214" y="5665093"/>
            <a:ext cx="10304006" cy="276920"/>
          </a:xfrm>
          <a:prstGeom prst="rect">
            <a:avLst/>
          </a:prstGeom>
          <a:noFill/>
          <a:ln/>
        </p:spPr>
        <p:txBody>
          <a:bodyPr wrap="none" lIns="0" tIns="0" rIns="0" bIns="0" rtlCol="0" anchor="t"/>
          <a:lstStyle/>
          <a:p>
            <a:pPr marL="0" indent="0" algn="l">
              <a:lnSpc>
                <a:spcPct val="104000"/>
              </a:lnSpc>
              <a:buNone/>
            </a:pPr>
            <a:r>
              <a:rPr lang="en-US" sz="1700" dirty="0">
                <a:solidFill>
                  <a:srgbClr val="405449"/>
                </a:solidFill>
                <a:latin typeface="Fraunces ExtraBold" pitchFamily="34" charset="0"/>
                <a:ea typeface="Fraunces ExtraBold" pitchFamily="34" charset="-122"/>
                <a:cs typeface="Fraunces ExtraBold" pitchFamily="34" charset="-120"/>
              </a:rPr>
              <a:t>Sustainable Farming</a:t>
            </a:r>
            <a:endParaRPr lang="en-US" sz="1700" dirty="0"/>
          </a:p>
        </p:txBody>
      </p:sp>
      <p:sp>
        <p:nvSpPr>
          <p:cNvPr id="12" name="Text 10"/>
          <p:cNvSpPr/>
          <p:nvPr/>
        </p:nvSpPr>
        <p:spPr>
          <a:xfrm>
            <a:off x="1226214" y="6041628"/>
            <a:ext cx="10304006" cy="274638"/>
          </a:xfrm>
          <a:prstGeom prst="rect">
            <a:avLst/>
          </a:prstGeom>
          <a:noFill/>
          <a:ln/>
        </p:spPr>
        <p:txBody>
          <a:bodyPr wrap="none" lIns="0" tIns="0" rIns="0" bIns="0" rtlCol="0" anchor="t"/>
          <a:lstStyle/>
          <a:p>
            <a:pPr marL="0" indent="0" algn="l">
              <a:lnSpc>
                <a:spcPct val="129000"/>
              </a:lnSpc>
              <a:buNone/>
            </a:pPr>
            <a:r>
              <a:rPr lang="en-US" sz="1350" dirty="0">
                <a:solidFill>
                  <a:srgbClr val="405449"/>
                </a:solidFill>
                <a:latin typeface="Nobile" pitchFamily="34" charset="0"/>
                <a:ea typeface="Nobile" pitchFamily="34" charset="-122"/>
                <a:cs typeface="Nobile" pitchFamily="34" charset="-120"/>
              </a:rPr>
              <a:t>Supports efficient water management practices and promotes sustainable farming for long-term agricultural health.</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669429"/>
            <a:ext cx="10868745" cy="433784"/>
          </a:xfrm>
          <a:prstGeom prst="rect">
            <a:avLst/>
          </a:prstGeom>
          <a:noFill/>
          <a:ln/>
        </p:spPr>
        <p:txBody>
          <a:bodyPr wrap="none" lIns="0" tIns="0" rIns="0" bIns="0" rtlCol="0" anchor="t"/>
          <a:lstStyle/>
          <a:p>
            <a:pPr marL="0" indent="0" algn="l">
              <a:lnSpc>
                <a:spcPct val="104000"/>
              </a:lnSpc>
              <a:buNone/>
            </a:pPr>
            <a:r>
              <a:rPr lang="en-US" sz="2700" dirty="0">
                <a:solidFill>
                  <a:srgbClr val="3B4540"/>
                </a:solidFill>
                <a:latin typeface="Fraunces ExtraBold" pitchFamily="34" charset="0"/>
                <a:ea typeface="Fraunces ExtraBold" pitchFamily="34" charset="-122"/>
                <a:cs typeface="Fraunces ExtraBold" pitchFamily="34" charset="-120"/>
              </a:rPr>
              <a:t>Applications and Scalability</a:t>
            </a:r>
            <a:endParaRPr lang="en-US" sz="2700" dirty="0"/>
          </a:p>
        </p:txBody>
      </p:sp>
      <p:sp>
        <p:nvSpPr>
          <p:cNvPr id="3" name="Text 1"/>
          <p:cNvSpPr/>
          <p:nvPr/>
        </p:nvSpPr>
        <p:spPr>
          <a:xfrm>
            <a:off x="661475" y="2117923"/>
            <a:ext cx="6946131" cy="216892"/>
          </a:xfrm>
          <a:prstGeom prst="rect">
            <a:avLst/>
          </a:prstGeom>
          <a:noFill/>
          <a:ln/>
        </p:spPr>
        <p:txBody>
          <a:bodyPr wrap="none" lIns="0" tIns="0" rIns="0" bIns="0" rtlCol="0" anchor="t"/>
          <a:lstStyle/>
          <a:p>
            <a:pPr marL="0" indent="0" algn="l">
              <a:lnSpc>
                <a:spcPct val="104000"/>
              </a:lnSpc>
              <a:buNone/>
            </a:pPr>
            <a:r>
              <a:rPr lang="en-US" sz="1350" dirty="0">
                <a:solidFill>
                  <a:srgbClr val="3B4540"/>
                </a:solidFill>
                <a:latin typeface="Fraunces ExtraBold" pitchFamily="34" charset="0"/>
                <a:ea typeface="Fraunces ExtraBold" pitchFamily="34" charset="-122"/>
                <a:cs typeface="Fraunces ExtraBold" pitchFamily="34" charset="-120"/>
              </a:rPr>
              <a:t>Applications</a:t>
            </a:r>
            <a:endParaRPr lang="en-US" sz="1350" dirty="0"/>
          </a:p>
        </p:txBody>
      </p:sp>
      <p:pic>
        <p:nvPicPr>
          <p:cNvPr id="4" name="Image 0" descr="preencoded.png"/>
          <p:cNvPicPr>
            <a:picLocks noChangeAspect="1"/>
          </p:cNvPicPr>
          <p:nvPr/>
        </p:nvPicPr>
        <p:blipFill>
          <a:blip r:embed="rId3"/>
          <a:stretch>
            <a:fillRect/>
          </a:stretch>
        </p:blipFill>
        <p:spPr>
          <a:xfrm>
            <a:off x="661475" y="2449413"/>
            <a:ext cx="490624" cy="490637"/>
          </a:xfrm>
          <a:prstGeom prst="rect">
            <a:avLst/>
          </a:prstGeom>
        </p:spPr>
      </p:pic>
      <p:sp>
        <p:nvSpPr>
          <p:cNvPr id="5" name="Text 2"/>
          <p:cNvSpPr/>
          <p:nvPr/>
        </p:nvSpPr>
        <p:spPr>
          <a:xfrm>
            <a:off x="1279493" y="2449413"/>
            <a:ext cx="1612364" cy="433784"/>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Agriculture &amp; Crop Farming</a:t>
            </a:r>
            <a:endParaRPr lang="en-US" sz="1350" dirty="0"/>
          </a:p>
        </p:txBody>
      </p:sp>
      <p:sp>
        <p:nvSpPr>
          <p:cNvPr id="6" name="Text 3"/>
          <p:cNvSpPr/>
          <p:nvPr/>
        </p:nvSpPr>
        <p:spPr>
          <a:xfrm>
            <a:off x="1279493" y="2985095"/>
            <a:ext cx="1612364" cy="577751"/>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405449"/>
                </a:solidFill>
                <a:latin typeface="Nobile" pitchFamily="34" charset="0"/>
                <a:ea typeface="Nobile" pitchFamily="34" charset="-122"/>
                <a:cs typeface="Nobile" pitchFamily="34" charset="-120"/>
              </a:rPr>
              <a:t>Large-scale field crops and precision agriculture</a:t>
            </a:r>
            <a:endParaRPr lang="en-US" sz="1050" dirty="0"/>
          </a:p>
        </p:txBody>
      </p:sp>
      <p:pic>
        <p:nvPicPr>
          <p:cNvPr id="7" name="Image 1" descr="preencoded.png"/>
          <p:cNvPicPr>
            <a:picLocks noChangeAspect="1"/>
          </p:cNvPicPr>
          <p:nvPr/>
        </p:nvPicPr>
        <p:blipFill>
          <a:blip r:embed="rId4"/>
          <a:stretch>
            <a:fillRect/>
          </a:stretch>
        </p:blipFill>
        <p:spPr>
          <a:xfrm>
            <a:off x="3019250" y="2449413"/>
            <a:ext cx="490624" cy="490637"/>
          </a:xfrm>
          <a:prstGeom prst="rect">
            <a:avLst/>
          </a:prstGeom>
        </p:spPr>
      </p:pic>
      <p:sp>
        <p:nvSpPr>
          <p:cNvPr id="8" name="Text 4"/>
          <p:cNvSpPr/>
          <p:nvPr/>
        </p:nvSpPr>
        <p:spPr>
          <a:xfrm>
            <a:off x="3637268" y="2449413"/>
            <a:ext cx="1612463" cy="650677"/>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Greenhouses &amp; Controlled Environments</a:t>
            </a:r>
            <a:endParaRPr lang="en-US" sz="1350" dirty="0"/>
          </a:p>
        </p:txBody>
      </p:sp>
      <p:sp>
        <p:nvSpPr>
          <p:cNvPr id="9" name="Text 5"/>
          <p:cNvSpPr/>
          <p:nvPr/>
        </p:nvSpPr>
        <p:spPr>
          <a:xfrm>
            <a:off x="3637268" y="3201988"/>
            <a:ext cx="1612463" cy="577751"/>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405449"/>
                </a:solidFill>
                <a:latin typeface="Nobile" pitchFamily="34" charset="0"/>
                <a:ea typeface="Nobile" pitchFamily="34" charset="-122"/>
                <a:cs typeface="Nobile" pitchFamily="34" charset="-120"/>
              </a:rPr>
              <a:t>Precise climate and moisture control for protected cultivation</a:t>
            </a:r>
            <a:endParaRPr lang="en-US" sz="1050" dirty="0"/>
          </a:p>
        </p:txBody>
      </p:sp>
      <p:pic>
        <p:nvPicPr>
          <p:cNvPr id="10" name="Image 2" descr="preencoded.png"/>
          <p:cNvPicPr>
            <a:picLocks noChangeAspect="1"/>
          </p:cNvPicPr>
          <p:nvPr/>
        </p:nvPicPr>
        <p:blipFill>
          <a:blip r:embed="rId5"/>
          <a:stretch>
            <a:fillRect/>
          </a:stretch>
        </p:blipFill>
        <p:spPr>
          <a:xfrm>
            <a:off x="5377125" y="2449413"/>
            <a:ext cx="490624" cy="490637"/>
          </a:xfrm>
          <a:prstGeom prst="rect">
            <a:avLst/>
          </a:prstGeom>
        </p:spPr>
      </p:pic>
      <p:sp>
        <p:nvSpPr>
          <p:cNvPr id="11" name="Text 6"/>
          <p:cNvSpPr/>
          <p:nvPr/>
        </p:nvSpPr>
        <p:spPr>
          <a:xfrm>
            <a:off x="5995143" y="2449413"/>
            <a:ext cx="1612463" cy="433784"/>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Gardens &amp; Landscaping</a:t>
            </a:r>
            <a:endParaRPr lang="en-US" sz="1350" dirty="0"/>
          </a:p>
        </p:txBody>
      </p:sp>
      <p:sp>
        <p:nvSpPr>
          <p:cNvPr id="12" name="Text 7"/>
          <p:cNvSpPr/>
          <p:nvPr/>
        </p:nvSpPr>
        <p:spPr>
          <a:xfrm>
            <a:off x="5995143" y="2985095"/>
            <a:ext cx="1612463" cy="770334"/>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405449"/>
                </a:solidFill>
                <a:latin typeface="Nobile" pitchFamily="34" charset="0"/>
                <a:ea typeface="Nobile" pitchFamily="34" charset="-122"/>
                <a:cs typeface="Nobile" pitchFamily="34" charset="-120"/>
              </a:rPr>
              <a:t>Efficient water management for ornamental and residential use</a:t>
            </a:r>
            <a:endParaRPr lang="en-US" sz="1050" dirty="0"/>
          </a:p>
        </p:txBody>
      </p:sp>
      <p:pic>
        <p:nvPicPr>
          <p:cNvPr id="13" name="Image 3" descr="preencoded.png"/>
          <p:cNvPicPr>
            <a:picLocks noChangeAspect="1"/>
          </p:cNvPicPr>
          <p:nvPr/>
        </p:nvPicPr>
        <p:blipFill>
          <a:blip r:embed="rId6"/>
          <a:stretch>
            <a:fillRect/>
          </a:stretch>
        </p:blipFill>
        <p:spPr>
          <a:xfrm>
            <a:off x="661475" y="3983534"/>
            <a:ext cx="490624" cy="490637"/>
          </a:xfrm>
          <a:prstGeom prst="rect">
            <a:avLst/>
          </a:prstGeom>
        </p:spPr>
      </p:pic>
      <p:sp>
        <p:nvSpPr>
          <p:cNvPr id="14" name="Text 8"/>
          <p:cNvSpPr/>
          <p:nvPr/>
        </p:nvSpPr>
        <p:spPr>
          <a:xfrm>
            <a:off x="1279493" y="3983534"/>
            <a:ext cx="1612364" cy="650677"/>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Research &amp; Experimental Farms</a:t>
            </a:r>
            <a:endParaRPr lang="en-US" sz="1350" dirty="0"/>
          </a:p>
        </p:txBody>
      </p:sp>
      <p:sp>
        <p:nvSpPr>
          <p:cNvPr id="15" name="Text 9"/>
          <p:cNvSpPr/>
          <p:nvPr/>
        </p:nvSpPr>
        <p:spPr>
          <a:xfrm>
            <a:off x="1279493" y="4736108"/>
            <a:ext cx="1612364" cy="577751"/>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405449"/>
                </a:solidFill>
                <a:latin typeface="Nobile" pitchFamily="34" charset="0"/>
                <a:ea typeface="Nobile" pitchFamily="34" charset="-122"/>
                <a:cs typeface="Nobile" pitchFamily="34" charset="-120"/>
              </a:rPr>
              <a:t>Controlled irrigation for scientific study and smart farming trials</a:t>
            </a:r>
            <a:endParaRPr lang="en-US" sz="1050" dirty="0"/>
          </a:p>
        </p:txBody>
      </p:sp>
      <p:sp>
        <p:nvSpPr>
          <p:cNvPr id="16" name="Text 10"/>
          <p:cNvSpPr/>
          <p:nvPr/>
        </p:nvSpPr>
        <p:spPr>
          <a:xfrm>
            <a:off x="7952482" y="1358007"/>
            <a:ext cx="3583989" cy="216892"/>
          </a:xfrm>
          <a:prstGeom prst="rect">
            <a:avLst/>
          </a:prstGeom>
          <a:noFill/>
          <a:ln/>
        </p:spPr>
        <p:txBody>
          <a:bodyPr wrap="none" lIns="0" tIns="0" rIns="0" bIns="0" rtlCol="0" anchor="t"/>
          <a:lstStyle/>
          <a:p>
            <a:pPr marL="0" indent="0" algn="l">
              <a:lnSpc>
                <a:spcPct val="104000"/>
              </a:lnSpc>
              <a:buNone/>
            </a:pPr>
            <a:r>
              <a:rPr lang="en-US" sz="1350" dirty="0">
                <a:solidFill>
                  <a:srgbClr val="3B4540"/>
                </a:solidFill>
                <a:latin typeface="Fraunces ExtraBold" pitchFamily="34" charset="0"/>
                <a:ea typeface="Fraunces ExtraBold" pitchFamily="34" charset="-122"/>
                <a:cs typeface="Fraunces ExtraBold" pitchFamily="34" charset="-120"/>
              </a:rPr>
              <a:t>Scalability</a:t>
            </a:r>
            <a:endParaRPr lang="en-US" sz="1350"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52482" y="1689497"/>
            <a:ext cx="3583989" cy="1019671"/>
          </a:xfrm>
          <a:prstGeom prst="rect">
            <a:avLst/>
          </a:prstGeom>
        </p:spPr>
      </p:pic>
      <p:sp>
        <p:nvSpPr>
          <p:cNvPr id="18" name="Text 11"/>
          <p:cNvSpPr/>
          <p:nvPr/>
        </p:nvSpPr>
        <p:spPr>
          <a:xfrm>
            <a:off x="8186533" y="1847354"/>
            <a:ext cx="3192085" cy="216892"/>
          </a:xfrm>
          <a:prstGeom prst="rect">
            <a:avLst/>
          </a:prstGeom>
          <a:noFill/>
          <a:ln/>
        </p:spPr>
        <p:txBody>
          <a:bodyPr wrap="none" lIns="0" tIns="0" rIns="0" bIns="0" rtlCol="0" anchor="t"/>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Adaptable Environments</a:t>
            </a:r>
            <a:endParaRPr lang="en-US" sz="1350" dirty="0"/>
          </a:p>
        </p:txBody>
      </p:sp>
      <p:sp>
        <p:nvSpPr>
          <p:cNvPr id="19" name="Text 12"/>
          <p:cNvSpPr/>
          <p:nvPr/>
        </p:nvSpPr>
        <p:spPr>
          <a:xfrm>
            <a:off x="8186533" y="2166144"/>
            <a:ext cx="3192085" cy="385167"/>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405449"/>
                </a:solidFill>
                <a:latin typeface="Nobile" pitchFamily="34" charset="0"/>
                <a:ea typeface="Nobile" pitchFamily="34" charset="-122"/>
                <a:cs typeface="Nobile" pitchFamily="34" charset="-120"/>
              </a:rPr>
              <a:t>Can be adapted to different agricultural environments and crop types</a:t>
            </a:r>
            <a:endParaRPr lang="en-US" sz="1050" dirty="0"/>
          </a:p>
        </p:txBody>
      </p:sp>
      <p:pic>
        <p:nvPicPr>
          <p:cNvPr id="20"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52482" y="2811066"/>
            <a:ext cx="3583989" cy="1019671"/>
          </a:xfrm>
          <a:prstGeom prst="rect">
            <a:avLst/>
          </a:prstGeom>
        </p:spPr>
      </p:pic>
      <p:sp>
        <p:nvSpPr>
          <p:cNvPr id="21" name="Text 13"/>
          <p:cNvSpPr/>
          <p:nvPr/>
        </p:nvSpPr>
        <p:spPr>
          <a:xfrm>
            <a:off x="8186533" y="2968923"/>
            <a:ext cx="3192085" cy="216892"/>
          </a:xfrm>
          <a:prstGeom prst="rect">
            <a:avLst/>
          </a:prstGeom>
          <a:noFill/>
          <a:ln/>
        </p:spPr>
        <p:txBody>
          <a:bodyPr wrap="none" lIns="0" tIns="0" rIns="0" bIns="0" rtlCol="0" anchor="t"/>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Multi-Sensor Support</a:t>
            </a:r>
            <a:endParaRPr lang="en-US" sz="1350" dirty="0"/>
          </a:p>
        </p:txBody>
      </p:sp>
      <p:sp>
        <p:nvSpPr>
          <p:cNvPr id="22" name="Text 14"/>
          <p:cNvSpPr/>
          <p:nvPr/>
        </p:nvSpPr>
        <p:spPr>
          <a:xfrm>
            <a:off x="8186533" y="3287713"/>
            <a:ext cx="3192085" cy="385167"/>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405449"/>
                </a:solidFill>
                <a:latin typeface="Nobile" pitchFamily="34" charset="0"/>
                <a:ea typeface="Nobile" pitchFamily="34" charset="-122"/>
                <a:cs typeface="Nobile" pitchFamily="34" charset="-120"/>
              </a:rPr>
              <a:t>Can support monitoring of multiple field conditions through connected sensors</a:t>
            </a:r>
            <a:endParaRPr lang="en-US" sz="1050" dirty="0"/>
          </a:p>
        </p:txBody>
      </p:sp>
      <p:pic>
        <p:nvPicPr>
          <p:cNvPr id="23" name="Image 6"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52482" y="3932634"/>
            <a:ext cx="3583989" cy="1019671"/>
          </a:xfrm>
          <a:prstGeom prst="rect">
            <a:avLst/>
          </a:prstGeom>
        </p:spPr>
      </p:pic>
      <p:sp>
        <p:nvSpPr>
          <p:cNvPr id="24" name="Text 15"/>
          <p:cNvSpPr/>
          <p:nvPr/>
        </p:nvSpPr>
        <p:spPr>
          <a:xfrm>
            <a:off x="8186533" y="4090491"/>
            <a:ext cx="3192085" cy="216892"/>
          </a:xfrm>
          <a:prstGeom prst="rect">
            <a:avLst/>
          </a:prstGeom>
          <a:noFill/>
          <a:ln/>
        </p:spPr>
        <p:txBody>
          <a:bodyPr wrap="none" lIns="0" tIns="0" rIns="0" bIns="0" rtlCol="0" anchor="t"/>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Multi-Location Integration</a:t>
            </a:r>
            <a:endParaRPr lang="en-US" sz="1350" dirty="0"/>
          </a:p>
        </p:txBody>
      </p:sp>
      <p:sp>
        <p:nvSpPr>
          <p:cNvPr id="25" name="Text 16"/>
          <p:cNvSpPr/>
          <p:nvPr/>
        </p:nvSpPr>
        <p:spPr>
          <a:xfrm>
            <a:off x="8186533" y="4409281"/>
            <a:ext cx="3192085" cy="385167"/>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405449"/>
                </a:solidFill>
                <a:latin typeface="Nobile" pitchFamily="34" charset="0"/>
                <a:ea typeface="Nobile" pitchFamily="34" charset="-122"/>
                <a:cs typeface="Nobile" pitchFamily="34" charset="-120"/>
              </a:rPr>
              <a:t>Can integrate automated irrigation control with centralized monitoring across multiple locations</a:t>
            </a:r>
            <a:endParaRPr lang="en-US" sz="1050" dirty="0"/>
          </a:p>
        </p:txBody>
      </p:sp>
      <p:pic>
        <p:nvPicPr>
          <p:cNvPr id="26" name="Image 7"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52482" y="5054203"/>
            <a:ext cx="3583989" cy="1019671"/>
          </a:xfrm>
          <a:prstGeom prst="rect">
            <a:avLst/>
          </a:prstGeom>
        </p:spPr>
      </p:pic>
      <p:sp>
        <p:nvSpPr>
          <p:cNvPr id="27" name="Text 17"/>
          <p:cNvSpPr/>
          <p:nvPr/>
        </p:nvSpPr>
        <p:spPr>
          <a:xfrm>
            <a:off x="8186533" y="5212060"/>
            <a:ext cx="3192085" cy="216892"/>
          </a:xfrm>
          <a:prstGeom prst="rect">
            <a:avLst/>
          </a:prstGeom>
          <a:noFill/>
          <a:ln/>
        </p:spPr>
        <p:txBody>
          <a:bodyPr wrap="none" lIns="0" tIns="0" rIns="0" bIns="0" rtlCol="0" anchor="t"/>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Smart Farming Foundation</a:t>
            </a:r>
            <a:endParaRPr lang="en-US" sz="1350" dirty="0"/>
          </a:p>
        </p:txBody>
      </p:sp>
      <p:sp>
        <p:nvSpPr>
          <p:cNvPr id="28" name="Text 18"/>
          <p:cNvSpPr/>
          <p:nvPr/>
        </p:nvSpPr>
        <p:spPr>
          <a:xfrm>
            <a:off x="8186533" y="5530850"/>
            <a:ext cx="3192085" cy="385167"/>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405449"/>
                </a:solidFill>
                <a:latin typeface="Nobile" pitchFamily="34" charset="0"/>
                <a:ea typeface="Nobile" pitchFamily="34" charset="-122"/>
                <a:cs typeface="Nobile" pitchFamily="34" charset="-120"/>
              </a:rPr>
              <a:t>Provides a foundation for scalable smart farming solutions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676870"/>
            <a:ext cx="6296860" cy="959842"/>
          </a:xfrm>
          <a:prstGeom prst="rect">
            <a:avLst/>
          </a:prstGeom>
          <a:noFill/>
          <a:ln/>
        </p:spPr>
        <p:txBody>
          <a:bodyPr wrap="square" lIns="0" tIns="0" rIns="0" bIns="0" rtlCol="0" anchor="t">
            <a:normAutofit/>
          </a:bodyPr>
          <a:lstStyle/>
          <a:p>
            <a:pPr marL="0" indent="0" algn="l">
              <a:lnSpc>
                <a:spcPct val="104000"/>
              </a:lnSpc>
              <a:buNone/>
            </a:pPr>
            <a:r>
              <a:rPr lang="en-US" sz="3000" dirty="0">
                <a:solidFill>
                  <a:srgbClr val="3B4540"/>
                </a:solidFill>
                <a:latin typeface="Fraunces ExtraBold" pitchFamily="34" charset="0"/>
                <a:ea typeface="Fraunces ExtraBold" pitchFamily="34" charset="-122"/>
                <a:cs typeface="Fraunces ExtraBold" pitchFamily="34" charset="-120"/>
              </a:rPr>
              <a:t>Conclusion and Future Perspective</a:t>
            </a:r>
            <a:endParaRPr lang="en-US" sz="3000" dirty="0"/>
          </a:p>
        </p:txBody>
      </p:sp>
      <p:sp>
        <p:nvSpPr>
          <p:cNvPr id="4" name="Text 1"/>
          <p:cNvSpPr/>
          <p:nvPr/>
        </p:nvSpPr>
        <p:spPr>
          <a:xfrm>
            <a:off x="5233360" y="1948557"/>
            <a:ext cx="2961110" cy="239911"/>
          </a:xfrm>
          <a:prstGeom prst="rect">
            <a:avLst/>
          </a:prstGeom>
          <a:noFill/>
          <a:ln/>
        </p:spPr>
        <p:txBody>
          <a:bodyPr wrap="none" lIns="0" tIns="0" rIns="0" bIns="0" rtlCol="0" anchor="t"/>
          <a:lstStyle/>
          <a:p>
            <a:pPr marL="0" indent="0" algn="l">
              <a:lnSpc>
                <a:spcPct val="104000"/>
              </a:lnSpc>
              <a:buNone/>
            </a:pPr>
            <a:r>
              <a:rPr lang="en-US" sz="1500" dirty="0">
                <a:solidFill>
                  <a:srgbClr val="3B4540"/>
                </a:solidFill>
                <a:latin typeface="Fraunces ExtraBold" pitchFamily="34" charset="0"/>
                <a:ea typeface="Fraunces ExtraBold" pitchFamily="34" charset="-122"/>
                <a:cs typeface="Fraunces ExtraBold" pitchFamily="34" charset="-120"/>
              </a:rPr>
              <a:t>Project Summary</a:t>
            </a:r>
            <a:endParaRPr lang="en-US" sz="1500" dirty="0"/>
          </a:p>
        </p:txBody>
      </p:sp>
      <p:sp>
        <p:nvSpPr>
          <p:cNvPr id="5" name="Text 2"/>
          <p:cNvSpPr/>
          <p:nvPr/>
        </p:nvSpPr>
        <p:spPr>
          <a:xfrm>
            <a:off x="5233360" y="2313186"/>
            <a:ext cx="2961110" cy="3824288"/>
          </a:xfrm>
          <a:prstGeom prst="rect">
            <a:avLst/>
          </a:prstGeom>
          <a:noFill/>
          <a:ln/>
        </p:spPr>
        <p:txBody>
          <a:bodyPr wrap="square" lIns="0" tIns="61431" rIns="0" bIns="0" rtlCol="0" anchor="t">
            <a:normAutofit/>
          </a:bodyPr>
          <a:lstStyle/>
          <a:p>
            <a:pPr marL="243840" indent="-243840" algn="l">
              <a:lnSpc>
                <a:spcPct val="121000"/>
              </a:lnSpc>
              <a:buSzPct val="100000"/>
              <a:buChar char="•"/>
            </a:pPr>
            <a:r>
              <a:rPr lang="en-US" sz="1200" dirty="0">
                <a:solidFill>
                  <a:srgbClr val="405449"/>
                </a:solidFill>
                <a:latin typeface="Nobile" pitchFamily="34" charset="0"/>
                <a:ea typeface="Nobile" pitchFamily="34" charset="-122"/>
                <a:cs typeface="Nobile" pitchFamily="34" charset="-120"/>
              </a:rPr>
              <a:t>The system provides intelligent and automated irrigation management</a:t>
            </a:r>
            <a:endParaRPr lang="en-US" sz="1200" dirty="0"/>
          </a:p>
          <a:p>
            <a:pPr marL="243840" indent="-243840" algn="l">
              <a:lnSpc>
                <a:spcPct val="121000"/>
              </a:lnSpc>
              <a:buSzPct val="100000"/>
              <a:buChar char="•"/>
            </a:pPr>
            <a:r>
              <a:rPr lang="en-US" sz="1200" dirty="0">
                <a:solidFill>
                  <a:srgbClr val="405449"/>
                </a:solidFill>
                <a:latin typeface="Nobile" pitchFamily="34" charset="0"/>
                <a:ea typeface="Nobile" pitchFamily="34" charset="-122"/>
                <a:cs typeface="Nobile" pitchFamily="34" charset="-120"/>
              </a:rPr>
              <a:t>Soil moisture monitoring enables irrigation based on actual field conditions</a:t>
            </a:r>
            <a:endParaRPr lang="en-US" sz="1200" dirty="0"/>
          </a:p>
          <a:p>
            <a:pPr marL="243840" indent="-243840" algn="l">
              <a:lnSpc>
                <a:spcPct val="121000"/>
              </a:lnSpc>
              <a:buSzPct val="100000"/>
              <a:buChar char="•"/>
            </a:pPr>
            <a:r>
              <a:rPr lang="en-US" sz="1200" dirty="0">
                <a:solidFill>
                  <a:srgbClr val="405449"/>
                </a:solidFill>
                <a:latin typeface="Nobile" pitchFamily="34" charset="0"/>
                <a:ea typeface="Nobile" pitchFamily="34" charset="-122"/>
                <a:cs typeface="Nobile" pitchFamily="34" charset="-120"/>
              </a:rPr>
              <a:t>IoT communication supports real-time monitoring and remote control</a:t>
            </a:r>
            <a:endParaRPr lang="en-US" sz="1200" dirty="0"/>
          </a:p>
          <a:p>
            <a:pPr marL="243840" indent="-243840" algn="l">
              <a:lnSpc>
                <a:spcPct val="121000"/>
              </a:lnSpc>
              <a:buSzPct val="100000"/>
              <a:buChar char="•"/>
            </a:pPr>
            <a:r>
              <a:rPr lang="en-US" sz="1200" dirty="0">
                <a:solidFill>
                  <a:srgbClr val="405449"/>
                </a:solidFill>
                <a:latin typeface="Nobile" pitchFamily="34" charset="0"/>
                <a:ea typeface="Nobile" pitchFamily="34" charset="-122"/>
                <a:cs typeface="Nobile" pitchFamily="34" charset="-120"/>
              </a:rPr>
              <a:t>Automated pumps reduce unnecessary manual intervention</a:t>
            </a:r>
            <a:endParaRPr lang="en-US" sz="1200" dirty="0"/>
          </a:p>
          <a:p>
            <a:pPr marL="243840" indent="-243840" algn="l">
              <a:lnSpc>
                <a:spcPct val="121000"/>
              </a:lnSpc>
              <a:buSzPct val="100000"/>
              <a:buChar char="•"/>
            </a:pPr>
            <a:r>
              <a:rPr lang="en-US" sz="1200" dirty="0">
                <a:solidFill>
                  <a:srgbClr val="405449"/>
                </a:solidFill>
                <a:latin typeface="Nobile" pitchFamily="34" charset="0"/>
                <a:ea typeface="Nobile" pitchFamily="34" charset="-122"/>
                <a:cs typeface="Nobile" pitchFamily="34" charset="-120"/>
              </a:rPr>
              <a:t>Environmental data and irrigation reports support better monitoring</a:t>
            </a:r>
            <a:endParaRPr lang="en-US" sz="1200" dirty="0"/>
          </a:p>
          <a:p>
            <a:pPr marL="243840" indent="-243840" algn="l">
              <a:lnSpc>
                <a:spcPct val="121000"/>
              </a:lnSpc>
              <a:buSzPct val="100000"/>
              <a:buChar char="•"/>
            </a:pPr>
            <a:r>
              <a:rPr lang="en-US" sz="1200" dirty="0">
                <a:solidFill>
                  <a:srgbClr val="405449"/>
                </a:solidFill>
                <a:latin typeface="Nobile" pitchFamily="34" charset="0"/>
                <a:ea typeface="Nobile" pitchFamily="34" charset="-122"/>
                <a:cs typeface="Nobile" pitchFamily="34" charset="-120"/>
              </a:rPr>
              <a:t>The system improves water conservation and crop irrigation efficiency</a:t>
            </a:r>
            <a:endParaRPr lang="en-US" sz="1200" dirty="0"/>
          </a:p>
          <a:p>
            <a:pPr marL="243840" indent="-243840" algn="l">
              <a:lnSpc>
                <a:spcPct val="121000"/>
              </a:lnSpc>
              <a:buSzPct val="100000"/>
              <a:buChar char="•"/>
            </a:pPr>
            <a:r>
              <a:rPr lang="en-US" sz="1200" dirty="0">
                <a:solidFill>
                  <a:srgbClr val="405449"/>
                </a:solidFill>
                <a:latin typeface="Nobile" pitchFamily="34" charset="0"/>
                <a:ea typeface="Nobile" pitchFamily="34" charset="-122"/>
                <a:cs typeface="Nobile" pitchFamily="34" charset="-120"/>
              </a:rPr>
              <a:t>It enhances agricultural productivity and supports sustainable farming</a:t>
            </a:r>
            <a:endParaRPr lang="en-US" sz="1200" dirty="0"/>
          </a:p>
        </p:txBody>
      </p:sp>
      <p:sp>
        <p:nvSpPr>
          <p:cNvPr id="6" name="Shape 3"/>
          <p:cNvSpPr/>
          <p:nvPr/>
        </p:nvSpPr>
        <p:spPr>
          <a:xfrm>
            <a:off x="8464834" y="1823839"/>
            <a:ext cx="3182362" cy="4357291"/>
          </a:xfrm>
          <a:prstGeom prst="roundRect">
            <a:avLst>
              <a:gd name="adj" fmla="val 6949"/>
            </a:avLst>
          </a:prstGeom>
          <a:solidFill>
            <a:srgbClr val="438951"/>
          </a:solidFill>
          <a:ln/>
        </p:spPr>
      </p:sp>
      <p:sp>
        <p:nvSpPr>
          <p:cNvPr id="7" name="Text 4"/>
          <p:cNvSpPr/>
          <p:nvPr/>
        </p:nvSpPr>
        <p:spPr>
          <a:xfrm>
            <a:off x="8618322" y="1948557"/>
            <a:ext cx="2875387" cy="239911"/>
          </a:xfrm>
          <a:prstGeom prst="rect">
            <a:avLst/>
          </a:prstGeom>
          <a:noFill/>
          <a:ln/>
        </p:spPr>
        <p:txBody>
          <a:bodyPr wrap="none" lIns="0" tIns="0" rIns="0" bIns="0" rtlCol="0" anchor="t"/>
          <a:lstStyle/>
          <a:p>
            <a:pPr marL="0" indent="0" algn="l">
              <a:lnSpc>
                <a:spcPct val="104000"/>
              </a:lnSpc>
              <a:buNone/>
            </a:pPr>
            <a:r>
              <a:rPr lang="en-US" sz="1500" dirty="0">
                <a:solidFill>
                  <a:srgbClr val="000000"/>
                </a:solidFill>
                <a:latin typeface="Fraunces ExtraBold" pitchFamily="34" charset="0"/>
                <a:ea typeface="Fraunces ExtraBold" pitchFamily="34" charset="-122"/>
                <a:cs typeface="Fraunces ExtraBold" pitchFamily="34" charset="-120"/>
              </a:rPr>
              <a:t>Key Objective</a:t>
            </a:r>
            <a:endParaRPr lang="en-US" sz="1500" dirty="0"/>
          </a:p>
        </p:txBody>
      </p:sp>
      <p:sp>
        <p:nvSpPr>
          <p:cNvPr id="8" name="Text 5"/>
          <p:cNvSpPr/>
          <p:nvPr/>
        </p:nvSpPr>
        <p:spPr>
          <a:xfrm>
            <a:off x="8618322" y="2313186"/>
            <a:ext cx="2875387" cy="1113234"/>
          </a:xfrm>
          <a:prstGeom prst="rect">
            <a:avLst/>
          </a:prstGeom>
          <a:noFill/>
          <a:ln/>
        </p:spPr>
        <p:txBody>
          <a:bodyPr wrap="square" lIns="0" tIns="0" rIns="0" bIns="0" rtlCol="0" anchor="t">
            <a:normAutofit/>
          </a:bodyPr>
          <a:lstStyle/>
          <a:p>
            <a:pPr marL="0" indent="0" algn="l">
              <a:lnSpc>
                <a:spcPct val="121000"/>
              </a:lnSpc>
              <a:buNone/>
            </a:pPr>
            <a:r>
              <a:rPr lang="en-US" sz="1200" dirty="0">
                <a:solidFill>
                  <a:srgbClr val="000000"/>
                </a:solidFill>
                <a:latin typeface="Nobile" pitchFamily="34" charset="0"/>
                <a:ea typeface="Nobile" pitchFamily="34" charset="-122"/>
                <a:cs typeface="Nobile" pitchFamily="34" charset="-120"/>
              </a:rPr>
              <a:t>To deliver a modern, intelligent, and sustainable irrigation management solution that optimizes water usage while improving agricultural productivity.</a:t>
            </a:r>
            <a:endParaRPr lang="en-US" sz="1200" dirty="0"/>
          </a:p>
        </p:txBody>
      </p:sp>
      <p:sp>
        <p:nvSpPr>
          <p:cNvPr id="9" name="Shape 6"/>
          <p:cNvSpPr/>
          <p:nvPr/>
        </p:nvSpPr>
        <p:spPr>
          <a:xfrm>
            <a:off x="8618322" y="3566716"/>
            <a:ext cx="1392302" cy="233263"/>
          </a:xfrm>
          <a:prstGeom prst="roundRect">
            <a:avLst>
              <a:gd name="adj" fmla="val 47404"/>
            </a:avLst>
          </a:prstGeom>
          <a:solidFill>
            <a:srgbClr val="19331E"/>
          </a:solidFill>
          <a:ln/>
        </p:spPr>
      </p:sp>
      <p:sp>
        <p:nvSpPr>
          <p:cNvPr id="10" name="Text 7"/>
          <p:cNvSpPr/>
          <p:nvPr/>
        </p:nvSpPr>
        <p:spPr>
          <a:xfrm>
            <a:off x="8710395" y="3612753"/>
            <a:ext cx="1817741" cy="141188"/>
          </a:xfrm>
          <a:prstGeom prst="rect">
            <a:avLst/>
          </a:prstGeom>
          <a:noFill/>
          <a:ln/>
        </p:spPr>
        <p:txBody>
          <a:bodyPr wrap="none" lIns="0" tIns="0" rIns="0" bIns="0" rtlCol="0" anchor="t"/>
          <a:lstStyle/>
          <a:p>
            <a:pPr marL="0" indent="0" algn="l">
              <a:lnSpc>
                <a:spcPct val="96000"/>
              </a:lnSpc>
              <a:buNone/>
            </a:pPr>
            <a:r>
              <a:rPr lang="en-US" sz="950" dirty="0">
                <a:solidFill>
                  <a:srgbClr val="405449"/>
                </a:solidFill>
                <a:latin typeface="Nobile" pitchFamily="34" charset="0"/>
                <a:ea typeface="Nobile" pitchFamily="34" charset="-122"/>
                <a:cs typeface="Nobile" pitchFamily="34" charset="-120"/>
              </a:rPr>
              <a:t>SMART IRRIGATION</a:t>
            </a:r>
            <a:endParaRPr lang="en-US" sz="950" dirty="0"/>
          </a:p>
        </p:txBody>
      </p:sp>
      <p:sp>
        <p:nvSpPr>
          <p:cNvPr id="11" name="Shape 8"/>
          <p:cNvSpPr/>
          <p:nvPr/>
        </p:nvSpPr>
        <p:spPr>
          <a:xfrm>
            <a:off x="10087318" y="3566716"/>
            <a:ext cx="1256376" cy="233263"/>
          </a:xfrm>
          <a:prstGeom prst="roundRect">
            <a:avLst>
              <a:gd name="adj" fmla="val 47404"/>
            </a:avLst>
          </a:prstGeom>
          <a:solidFill>
            <a:srgbClr val="19331E"/>
          </a:solidFill>
          <a:ln/>
        </p:spPr>
      </p:sp>
      <p:sp>
        <p:nvSpPr>
          <p:cNvPr id="12" name="Text 9"/>
          <p:cNvSpPr/>
          <p:nvPr/>
        </p:nvSpPr>
        <p:spPr>
          <a:xfrm>
            <a:off x="10179391" y="3612753"/>
            <a:ext cx="1681815" cy="141188"/>
          </a:xfrm>
          <a:prstGeom prst="rect">
            <a:avLst/>
          </a:prstGeom>
          <a:noFill/>
          <a:ln/>
        </p:spPr>
        <p:txBody>
          <a:bodyPr wrap="none" lIns="0" tIns="0" rIns="0" bIns="0" rtlCol="0" anchor="t"/>
          <a:lstStyle/>
          <a:p>
            <a:pPr marL="0" indent="0" algn="l">
              <a:lnSpc>
                <a:spcPct val="96000"/>
              </a:lnSpc>
              <a:buNone/>
            </a:pPr>
            <a:r>
              <a:rPr lang="en-US" sz="950" dirty="0">
                <a:solidFill>
                  <a:srgbClr val="405449"/>
                </a:solidFill>
                <a:latin typeface="Nobile" pitchFamily="34" charset="0"/>
                <a:ea typeface="Nobile" pitchFamily="34" charset="-122"/>
                <a:cs typeface="Nobile" pitchFamily="34" charset="-120"/>
              </a:rPr>
              <a:t>IOT TECHNOLOGY</a:t>
            </a:r>
            <a:endParaRPr lang="en-US" sz="950" dirty="0"/>
          </a:p>
        </p:txBody>
      </p:sp>
      <p:sp>
        <p:nvSpPr>
          <p:cNvPr id="13" name="Shape 10"/>
          <p:cNvSpPr/>
          <p:nvPr/>
        </p:nvSpPr>
        <p:spPr>
          <a:xfrm>
            <a:off x="8618322" y="3876675"/>
            <a:ext cx="1656812" cy="233263"/>
          </a:xfrm>
          <a:prstGeom prst="roundRect">
            <a:avLst>
              <a:gd name="adj" fmla="val 47404"/>
            </a:avLst>
          </a:prstGeom>
          <a:solidFill>
            <a:srgbClr val="19331E"/>
          </a:solidFill>
          <a:ln/>
        </p:spPr>
      </p:sp>
      <p:sp>
        <p:nvSpPr>
          <p:cNvPr id="14" name="Text 11"/>
          <p:cNvSpPr/>
          <p:nvPr/>
        </p:nvSpPr>
        <p:spPr>
          <a:xfrm>
            <a:off x="8710395" y="3922713"/>
            <a:ext cx="2082252" cy="141188"/>
          </a:xfrm>
          <a:prstGeom prst="rect">
            <a:avLst/>
          </a:prstGeom>
          <a:noFill/>
          <a:ln/>
        </p:spPr>
        <p:txBody>
          <a:bodyPr wrap="none" lIns="0" tIns="0" rIns="0" bIns="0" rtlCol="0" anchor="t"/>
          <a:lstStyle/>
          <a:p>
            <a:pPr marL="0" indent="0" algn="l">
              <a:lnSpc>
                <a:spcPct val="96000"/>
              </a:lnSpc>
              <a:buNone/>
            </a:pPr>
            <a:r>
              <a:rPr lang="en-US" sz="950" dirty="0">
                <a:solidFill>
                  <a:srgbClr val="405449"/>
                </a:solidFill>
                <a:latin typeface="Nobile" pitchFamily="34" charset="0"/>
                <a:ea typeface="Nobile" pitchFamily="34" charset="-122"/>
                <a:cs typeface="Nobile" pitchFamily="34" charset="-120"/>
              </a:rPr>
              <a:t>SUSTAINABLE FARMING</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792</Words>
  <Application>Microsoft Office PowerPoint</Application>
  <PresentationFormat>Widescreen</PresentationFormat>
  <Paragraphs>122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Fraunces ExtraBold</vt:lpstr>
      <vt:lpstr>Arial</vt:lpstr>
      <vt:lpstr>Nobile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lohit</dc:creator>
  <cp:lastModifiedBy>lohitha.gudla@hotmail.com</cp:lastModifiedBy>
  <cp:revision>3</cp:revision>
  <dcterms:created xsi:type="dcterms:W3CDTF">2026-08-19T05:36:34Z</dcterms:created>
  <dcterms:modified xsi:type="dcterms:W3CDTF">2026-10-07T05:27:07Z</dcterms:modified>
</cp:coreProperties>
</file>